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Project ZERO — a credentialless commerce platform built on Stellar. In one line: one invoice, one authorization, verified settlement, and no reusable customer payment secrets sitting inside a merchant's system. Let's start with the problem small merchants deal with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merchants — especially social and chat-based sellers — usually confirm payment by eyeballing a screenshot. That's slow, error-prone as volume grows, and it also means reusable payment credentials end up floating around inside the merchant's world. Project ZERO starts from a simple insight about how to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traditional flow, a reusable credential sits inside the merchant's payment system and trust has to be protected at every layer. Project ZERO replaces that with a payment request that's authorized once, by the customer, for exactly one transaction — then verified on Stellar. That single shift is the foundation for everything else in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experience is four simple steps: the merchant creates a request, the customer opens the link or scans the QR, the customer authorizes it inside their own wallet, and Project ZERO verifies and marks it paid automatically. No screenshot changes hands anywhere in this loop. Let's look at what makes the settlement itself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a request moves from the merchant, through a link or QR, into a Freighter wallet authorization, onto Stellar for settlement, through Horizon for verification, and finally into a Supabase record marked paid. Stellar fits well here because authorization is wallet-based, every settled transaction is publicly checkable, and settlement is fast and low-cost. Now — how does Project ZERO actually decide something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ZERO checks the on-chain transaction against the stored request across four values — memo, destination, amount, and asset. Only when all four match does the system atomically mark it verified and paid. The merchant never gets to flip that switch by hand, and Row-Level Security keeps merchant data isolated. This is what makes 'paid' something you can trust instead of something you're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real product screenshots go — the merchant dashboard, the customer-facing payment page, and the verified paid state. We've left these as labeled placeholders until we drop in actual captures from the app, so the deck never shows anything that isn't real. Next, who is this actually built for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ZERO is aimed first at the sellers already living in links, chats, and QR codes — MSMEs, social sellers, and local merchants — plus customers who care about not handing over reusable payment credentials. Each of these groups gets something concrete: simpler links, faster confirmation, and less manual bookkeeping. Now let's separate what's actually built today from what's still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proves the core loop: a merchant can register, create a request, share a link or QR, get it authorized through Freighter on Testnet, and see it verified and recorded automatically. We're being direct that end-to-end wallet testing is still in progress — this isn't marketed as more finished than it is. Everything past the core loop — OpenKYC, hosted wallets, receipts, more assets, Mainnet, APIs — is roadmap, not shipped. Let's close with the team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team behind Project ZERO. To close: our goal is to make payments verifiable rather than credential-dependent — giving small merchants trustworthy confirmation and giving customers control over their own wallet, transaction by transaction. Links to the live demo, demo video, and GitHub repository are here, and we're glad to talk further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0"/>
        </a:solidFill>
      </p:bgPr>
    </p:bg>
    <p:spTree>
      <p:nvGrpSpPr>
        <p:cNvPr id="1" name=""/>
        <p:cNvGrpSpPr/>
        <p:nvPr/>
      </p:nvGrpSpPr>
      <p:grpSpPr>
        <a:xfrm>
          <a:off x="0" y="0"/>
          <a:ext cx="0" cy="0"/>
          <a:chOff x="0" y="0"/>
          <a:chExt cx="0" cy="0"/>
        </a:xfrm>
      </p:grpSpPr>
      <p:sp>
        <p:nvSpPr>
          <p:cNvPr id="2" name="Shape 0"/>
          <p:cNvSpPr/>
          <p:nvPr/>
        </p:nvSpPr>
        <p:spPr>
          <a:xfrm>
            <a:off x="5591556" y="1051560"/>
            <a:ext cx="1005840" cy="1005840"/>
          </a:xfrm>
          <a:prstGeom prst="ellipse">
            <a:avLst/>
          </a:prstGeom>
          <a:ln w="31750">
            <a:solidFill>
              <a:srgbClr val="7C5CFC"/>
            </a:solidFill>
            <a:prstDash val="solid"/>
          </a:ln>
        </p:spPr>
      </p:sp>
      <p:sp>
        <p:nvSpPr>
          <p:cNvPr id="3" name="Text 1"/>
          <p:cNvSpPr/>
          <p:nvPr/>
        </p:nvSpPr>
        <p:spPr>
          <a:xfrm>
            <a:off x="0" y="2514600"/>
            <a:ext cx="12188952" cy="1005840"/>
          </a:xfrm>
          <a:prstGeom prst="rect">
            <a:avLst/>
          </a:prstGeom>
          <a:noFill/>
          <a:ln/>
        </p:spPr>
        <p:txBody>
          <a:bodyPr wrap="square" rtlCol="0" anchor="ctr"/>
          <a:lstStyle/>
          <a:p>
            <a:pPr algn="ctr" indent="0" marL="0">
              <a:buNone/>
            </a:pPr>
            <a:r>
              <a:rPr lang="en-US" sz="5800" b="1" dirty="0">
                <a:solidFill>
                  <a:srgbClr val="F7F8FA"/>
                </a:solidFill>
                <a:latin typeface="Arial" pitchFamily="34" charset="0"/>
                <a:ea typeface="Arial" pitchFamily="34" charset="-122"/>
                <a:cs typeface="Arial" pitchFamily="34" charset="-120"/>
              </a:rPr>
              <a:t>Project ZERO</a:t>
            </a:r>
            <a:endParaRPr lang="en-US" sz="5800" dirty="0"/>
          </a:p>
        </p:txBody>
      </p:sp>
      <p:sp>
        <p:nvSpPr>
          <p:cNvPr id="4" name="Text 2"/>
          <p:cNvSpPr/>
          <p:nvPr/>
        </p:nvSpPr>
        <p:spPr>
          <a:xfrm>
            <a:off x="0" y="3520440"/>
            <a:ext cx="12188952" cy="502920"/>
          </a:xfrm>
          <a:prstGeom prst="rect">
            <a:avLst/>
          </a:prstGeom>
          <a:noFill/>
          <a:ln/>
        </p:spPr>
        <p:txBody>
          <a:bodyPr wrap="square" rtlCol="0" anchor="ctr"/>
          <a:lstStyle/>
          <a:p>
            <a:pPr algn="ctr" indent="0" marL="0">
              <a:buNone/>
            </a:pPr>
            <a:r>
              <a:rPr lang="en-US" sz="2200" dirty="0">
                <a:solidFill>
                  <a:srgbClr val="7B818C"/>
                </a:solidFill>
                <a:latin typeface="Calibri" pitchFamily="34" charset="0"/>
                <a:ea typeface="Calibri" pitchFamily="34" charset="-122"/>
                <a:cs typeface="Calibri" pitchFamily="34" charset="-120"/>
              </a:rPr>
              <a:t>Credentialless commerce powered by Stellar</a:t>
            </a:r>
            <a:endParaRPr lang="en-US" sz="2200" dirty="0"/>
          </a:p>
        </p:txBody>
      </p:sp>
      <p:sp>
        <p:nvSpPr>
          <p:cNvPr id="5" name="Text 3"/>
          <p:cNvSpPr/>
          <p:nvPr/>
        </p:nvSpPr>
        <p:spPr>
          <a:xfrm>
            <a:off x="0" y="4160520"/>
            <a:ext cx="12188952" cy="457200"/>
          </a:xfrm>
          <a:prstGeom prst="rect">
            <a:avLst/>
          </a:prstGeom>
          <a:noFill/>
          <a:ln/>
        </p:spPr>
        <p:txBody>
          <a:bodyPr wrap="square" rtlCol="0" anchor="ctr"/>
          <a:lstStyle/>
          <a:p>
            <a:pPr algn="ctr" indent="0" marL="0">
              <a:buNone/>
            </a:pPr>
            <a:r>
              <a:rPr lang="en-US" sz="1800" i="1" dirty="0">
                <a:solidFill>
                  <a:srgbClr val="7C5CFC"/>
                </a:solidFill>
                <a:latin typeface="Calibri" pitchFamily="34" charset="0"/>
                <a:ea typeface="Calibri" pitchFamily="34" charset="-122"/>
                <a:cs typeface="Calibri" pitchFamily="34" charset="-120"/>
              </a:rPr>
              <a:t>One invoice.  One authorization.  Verified settlement.</a:t>
            </a:r>
            <a:endParaRPr lang="en-US" sz="1800" dirty="0"/>
          </a:p>
        </p:txBody>
      </p:sp>
      <p:sp>
        <p:nvSpPr>
          <p:cNvPr id="6" name="Text 4"/>
          <p:cNvSpPr/>
          <p:nvPr/>
        </p:nvSpPr>
        <p:spPr>
          <a:xfrm>
            <a:off x="0" y="6035040"/>
            <a:ext cx="12188952" cy="365760"/>
          </a:xfrm>
          <a:prstGeom prst="rect">
            <a:avLst/>
          </a:prstGeom>
          <a:noFill/>
          <a:ln/>
        </p:spPr>
        <p:txBody>
          <a:bodyPr wrap="square" rtlCol="0" anchor="ctr"/>
          <a:lstStyle/>
          <a:p>
            <a:pPr algn="ctr" indent="0" marL="0">
              <a:buNone/>
            </a:pPr>
            <a:r>
              <a:rPr lang="en-US" sz="1400" dirty="0">
                <a:solidFill>
                  <a:srgbClr val="7B818C"/>
                </a:solidFill>
                <a:latin typeface="Calibri" pitchFamily="34" charset="0"/>
                <a:ea typeface="Calibri" pitchFamily="34" charset="-122"/>
                <a:cs typeface="Calibri" pitchFamily="34" charset="-120"/>
              </a:rPr>
              <a:t>Team ZERO  ·  Hackathon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85800" y="502920"/>
            <a:ext cx="10817352" cy="914400"/>
          </a:xfrm>
          <a:prstGeom prst="rect">
            <a:avLst/>
          </a:prstGeom>
          <a:noFill/>
          <a:ln/>
        </p:spPr>
        <p:txBody>
          <a:bodyPr wrap="square" rtlCol="0" anchor="ctr"/>
          <a:lstStyle/>
          <a:p>
            <a:pPr indent="0" marL="0">
              <a:buNone/>
            </a:pPr>
            <a:r>
              <a:rPr lang="en-US" sz="3400" b="1" dirty="0">
                <a:solidFill>
                  <a:srgbClr val="0B0D10"/>
                </a:solidFill>
                <a:latin typeface="Arial" pitchFamily="34" charset="0"/>
                <a:ea typeface="Arial" pitchFamily="34" charset="-122"/>
                <a:cs typeface="Arial" pitchFamily="34" charset="-120"/>
              </a:rPr>
              <a:t>A payment screenshot is not proof of settlement</a:t>
            </a:r>
            <a:endParaRPr lang="en-US" sz="3400" dirty="0"/>
          </a:p>
        </p:txBody>
      </p:sp>
      <p:sp>
        <p:nvSpPr>
          <p:cNvPr id="3" name="Text 1"/>
          <p:cNvSpPr/>
          <p:nvPr/>
        </p:nvSpPr>
        <p:spPr>
          <a:xfrm>
            <a:off x="685800" y="1691640"/>
            <a:ext cx="5577840" cy="1371600"/>
          </a:xfrm>
          <a:prstGeom prst="rect">
            <a:avLst/>
          </a:prstGeom>
          <a:noFill/>
          <a:ln/>
        </p:spPr>
        <p:txBody>
          <a:bodyPr wrap="square" rtlCol="0" anchor="t"/>
          <a:lstStyle/>
          <a:p>
            <a:pPr indent="0" marL="0">
              <a:lnSpc>
                <a:spcPct val="125000"/>
              </a:lnSpc>
              <a:buNone/>
            </a:pPr>
            <a:r>
              <a:rPr lang="en-US" sz="1800" dirty="0">
                <a:solidFill>
                  <a:srgbClr val="0B0D10"/>
                </a:solidFill>
                <a:latin typeface="Calibri" pitchFamily="34" charset="0"/>
                <a:ea typeface="Calibri" pitchFamily="34" charset="-122"/>
                <a:cs typeface="Calibri" pitchFamily="34" charset="-120"/>
              </a:rPr>
              <a:t>A local seller running a shop through chat and social media asks every buyer to send a screenshot after payment, then checks it manually before releasing an order.</a:t>
            </a:r>
            <a:endParaRPr lang="en-US" sz="1800" dirty="0"/>
          </a:p>
        </p:txBody>
      </p:sp>
      <p:sp>
        <p:nvSpPr>
          <p:cNvPr id="4" name="Shape 2"/>
          <p:cNvSpPr/>
          <p:nvPr/>
        </p:nvSpPr>
        <p:spPr>
          <a:xfrm>
            <a:off x="685800" y="3447288"/>
            <a:ext cx="82296" cy="82296"/>
          </a:xfrm>
          <a:prstGeom prst="ellipse">
            <a:avLst/>
          </a:prstGeom>
          <a:solidFill>
            <a:srgbClr val="7C5CFC"/>
          </a:solidFill>
          <a:ln/>
        </p:spPr>
      </p:sp>
      <p:sp>
        <p:nvSpPr>
          <p:cNvPr id="5" name="Text 3"/>
          <p:cNvSpPr/>
          <p:nvPr/>
        </p:nvSpPr>
        <p:spPr>
          <a:xfrm>
            <a:off x="960120" y="3337560"/>
            <a:ext cx="5303520" cy="502920"/>
          </a:xfrm>
          <a:prstGeom prst="rect">
            <a:avLst/>
          </a:prstGeom>
          <a:noFill/>
          <a:ln/>
        </p:spPr>
        <p:txBody>
          <a:bodyPr wrap="square" rtlCol="0" anchor="t"/>
          <a:lstStyle/>
          <a:p>
            <a:pPr indent="0" marL="0">
              <a:buNone/>
            </a:pPr>
            <a:r>
              <a:rPr lang="en-US" sz="1700" dirty="0">
                <a:solidFill>
                  <a:srgbClr val="0B0D10"/>
                </a:solidFill>
                <a:latin typeface="Calibri" pitchFamily="34" charset="0"/>
                <a:ea typeface="Calibri" pitchFamily="34" charset="-122"/>
                <a:cs typeface="Calibri" pitchFamily="34" charset="-120"/>
              </a:rPr>
              <a:t>Order confirmation waits on someone checking a photo</a:t>
            </a:r>
            <a:endParaRPr lang="en-US" sz="1700" dirty="0"/>
          </a:p>
        </p:txBody>
      </p:sp>
      <p:sp>
        <p:nvSpPr>
          <p:cNvPr id="6" name="Shape 4"/>
          <p:cNvSpPr/>
          <p:nvPr/>
        </p:nvSpPr>
        <p:spPr>
          <a:xfrm>
            <a:off x="685800" y="4105656"/>
            <a:ext cx="82296" cy="82296"/>
          </a:xfrm>
          <a:prstGeom prst="ellipse">
            <a:avLst/>
          </a:prstGeom>
          <a:solidFill>
            <a:srgbClr val="7C5CFC"/>
          </a:solidFill>
          <a:ln/>
        </p:spPr>
      </p:sp>
      <p:sp>
        <p:nvSpPr>
          <p:cNvPr id="7" name="Text 5"/>
          <p:cNvSpPr/>
          <p:nvPr/>
        </p:nvSpPr>
        <p:spPr>
          <a:xfrm>
            <a:off x="960120" y="3995928"/>
            <a:ext cx="5303520" cy="502920"/>
          </a:xfrm>
          <a:prstGeom prst="rect">
            <a:avLst/>
          </a:prstGeom>
          <a:noFill/>
          <a:ln/>
        </p:spPr>
        <p:txBody>
          <a:bodyPr wrap="square" rtlCol="0" anchor="t"/>
          <a:lstStyle/>
          <a:p>
            <a:pPr indent="0" marL="0">
              <a:buNone/>
            </a:pPr>
            <a:r>
              <a:rPr lang="en-US" sz="1700" dirty="0">
                <a:solidFill>
                  <a:srgbClr val="0B0D10"/>
                </a:solidFill>
                <a:latin typeface="Calibri" pitchFamily="34" charset="0"/>
                <a:ea typeface="Calibri" pitchFamily="34" charset="-122"/>
                <a:cs typeface="Calibri" pitchFamily="34" charset="-120"/>
              </a:rPr>
              <a:t>Reconciliation gets harder as orders grow</a:t>
            </a:r>
            <a:endParaRPr lang="en-US" sz="1700" dirty="0"/>
          </a:p>
        </p:txBody>
      </p:sp>
      <p:sp>
        <p:nvSpPr>
          <p:cNvPr id="8" name="Shape 6"/>
          <p:cNvSpPr/>
          <p:nvPr/>
        </p:nvSpPr>
        <p:spPr>
          <a:xfrm>
            <a:off x="685800" y="4764024"/>
            <a:ext cx="82296" cy="82296"/>
          </a:xfrm>
          <a:prstGeom prst="ellipse">
            <a:avLst/>
          </a:prstGeom>
          <a:solidFill>
            <a:srgbClr val="7C5CFC"/>
          </a:solidFill>
          <a:ln/>
        </p:spPr>
      </p:sp>
      <p:sp>
        <p:nvSpPr>
          <p:cNvPr id="9" name="Text 7"/>
          <p:cNvSpPr/>
          <p:nvPr/>
        </p:nvSpPr>
        <p:spPr>
          <a:xfrm>
            <a:off x="960120" y="4654296"/>
            <a:ext cx="5303520" cy="502920"/>
          </a:xfrm>
          <a:prstGeom prst="rect">
            <a:avLst/>
          </a:prstGeom>
          <a:noFill/>
          <a:ln/>
        </p:spPr>
        <p:txBody>
          <a:bodyPr wrap="square" rtlCol="0" anchor="t"/>
          <a:lstStyle/>
          <a:p>
            <a:pPr indent="0" marL="0">
              <a:buNone/>
            </a:pPr>
            <a:r>
              <a:rPr lang="en-US" sz="1700" dirty="0">
                <a:solidFill>
                  <a:srgbClr val="0B0D10"/>
                </a:solidFill>
                <a:latin typeface="Calibri" pitchFamily="34" charset="0"/>
                <a:ea typeface="Calibri" pitchFamily="34" charset="-122"/>
                <a:cs typeface="Calibri" pitchFamily="34" charset="-120"/>
              </a:rPr>
              <a:t>Reusable payment credentials raise the cost of a breach</a:t>
            </a:r>
            <a:endParaRPr lang="en-US" sz="1700" dirty="0"/>
          </a:p>
        </p:txBody>
      </p:sp>
      <p:sp>
        <p:nvSpPr>
          <p:cNvPr id="10" name="Shape 8"/>
          <p:cNvSpPr/>
          <p:nvPr/>
        </p:nvSpPr>
        <p:spPr>
          <a:xfrm>
            <a:off x="8092440" y="1737360"/>
            <a:ext cx="2834640" cy="2834640"/>
          </a:xfrm>
          <a:prstGeom prst="ellipse">
            <a:avLst/>
          </a:prstGeom>
          <a:solidFill>
            <a:srgbClr val="EDEBFE"/>
          </a:solidFill>
          <a:ln/>
        </p:spPr>
      </p:sp>
      <p:pic>
        <p:nvPicPr>
          <p:cNvPr id="11" name="Image 0" descr="/home/claude/zero_deck/icons/screenshot_violet.png">    </p:cNvPr>
          <p:cNvPicPr>
            <a:picLocks noChangeAspect="1"/>
          </p:cNvPicPr>
          <p:nvPr/>
        </p:nvPicPr>
        <p:blipFill>
          <a:blip r:embed="rId1"/>
          <a:stretch>
            <a:fillRect/>
          </a:stretch>
        </p:blipFill>
        <p:spPr>
          <a:xfrm>
            <a:off x="8915400" y="2560320"/>
            <a:ext cx="1188720" cy="1188720"/>
          </a:xfrm>
          <a:prstGeom prst="rect">
            <a:avLst/>
          </a:prstGeom>
        </p:spPr>
      </p:pic>
      <p:sp>
        <p:nvSpPr>
          <p:cNvPr id="12" name="Text 9"/>
          <p:cNvSpPr/>
          <p:nvPr/>
        </p:nvSpPr>
        <p:spPr>
          <a:xfrm>
            <a:off x="7635240" y="4709160"/>
            <a:ext cx="3749040" cy="365760"/>
          </a:xfrm>
          <a:prstGeom prst="rect">
            <a:avLst/>
          </a:prstGeom>
          <a:noFill/>
          <a:ln/>
        </p:spPr>
        <p:txBody>
          <a:bodyPr wrap="square" rtlCol="0" anchor="ctr"/>
          <a:lstStyle/>
          <a:p>
            <a:pPr algn="ctr" indent="0" marL="0">
              <a:buNone/>
            </a:pPr>
            <a:r>
              <a:rPr lang="en-US" sz="1400" i="1" dirty="0">
                <a:solidFill>
                  <a:srgbClr val="7B818C"/>
                </a:solidFill>
                <a:latin typeface="Calibri" pitchFamily="34" charset="0"/>
                <a:ea typeface="Calibri" pitchFamily="34" charset="-122"/>
                <a:cs typeface="Calibri" pitchFamily="34" charset="-120"/>
              </a:rPr>
              <a:t>Not settlement evidence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85800" y="502920"/>
            <a:ext cx="10817352" cy="914400"/>
          </a:xfrm>
          <a:prstGeom prst="rect">
            <a:avLst/>
          </a:prstGeom>
          <a:noFill/>
          <a:ln/>
        </p:spPr>
        <p:txBody>
          <a:bodyPr wrap="square" rtlCol="0" anchor="ctr"/>
          <a:lstStyle/>
          <a:p>
            <a:pPr indent="0" marL="0">
              <a:buNone/>
            </a:pPr>
            <a:r>
              <a:rPr lang="en-US" sz="3400" b="1" dirty="0">
                <a:solidFill>
                  <a:srgbClr val="0B0D10"/>
                </a:solidFill>
                <a:latin typeface="Arial" pitchFamily="34" charset="0"/>
                <a:ea typeface="Arial" pitchFamily="34" charset="-122"/>
                <a:cs typeface="Arial" pitchFamily="34" charset="-120"/>
              </a:rPr>
              <a:t>Authorization should belong to one transaction</a:t>
            </a:r>
            <a:endParaRPr lang="en-US" sz="3400" dirty="0"/>
          </a:p>
        </p:txBody>
      </p:sp>
      <p:sp>
        <p:nvSpPr>
          <p:cNvPr id="3" name="Text 1"/>
          <p:cNvSpPr/>
          <p:nvPr/>
        </p:nvSpPr>
        <p:spPr>
          <a:xfrm>
            <a:off x="685800" y="1463040"/>
            <a:ext cx="10817352" cy="640080"/>
          </a:xfrm>
          <a:prstGeom prst="rect">
            <a:avLst/>
          </a:prstGeom>
          <a:noFill/>
          <a:ln/>
        </p:spPr>
        <p:txBody>
          <a:bodyPr wrap="square" rtlCol="0" anchor="ctr"/>
          <a:lstStyle/>
          <a:p>
            <a:pPr indent="0" marL="0">
              <a:buNone/>
            </a:pPr>
            <a:r>
              <a:rPr lang="en-US" sz="1900" dirty="0">
                <a:solidFill>
                  <a:srgbClr val="0B0D10"/>
                </a:solidFill>
                <a:latin typeface="Calibri" pitchFamily="34" charset="0"/>
                <a:ea typeface="Calibri" pitchFamily="34" charset="-122"/>
                <a:cs typeface="Calibri" pitchFamily="34" charset="-120"/>
              </a:rPr>
              <a:t>Instead of protecting reusable credentials inside every merchant system, Project ZERO removes them from the payment flow entirely.</a:t>
            </a:r>
            <a:endParaRPr lang="en-US" sz="1900" dirty="0"/>
          </a:p>
        </p:txBody>
      </p:sp>
      <p:sp>
        <p:nvSpPr>
          <p:cNvPr id="4" name="Shape 2"/>
          <p:cNvSpPr/>
          <p:nvPr/>
        </p:nvSpPr>
        <p:spPr>
          <a:xfrm>
            <a:off x="685800" y="2788920"/>
            <a:ext cx="3063240" cy="777240"/>
          </a:xfrm>
          <a:prstGeom prst="roundRect">
            <a:avLst>
              <a:gd name="adj" fmla="val 9412"/>
            </a:avLst>
          </a:prstGeom>
          <a:solidFill>
            <a:srgbClr val="F7F8FA"/>
          </a:solidFill>
          <a:ln w="19050">
            <a:solidFill>
              <a:srgbClr val="7B818C"/>
            </a:solidFill>
            <a:prstDash val="solid"/>
          </a:ln>
        </p:spPr>
      </p:sp>
      <p:sp>
        <p:nvSpPr>
          <p:cNvPr id="5" name="Text 3"/>
          <p:cNvSpPr/>
          <p:nvPr/>
        </p:nvSpPr>
        <p:spPr>
          <a:xfrm>
            <a:off x="685800" y="2788920"/>
            <a:ext cx="3063240" cy="777240"/>
          </a:xfrm>
          <a:prstGeom prst="rect">
            <a:avLst/>
          </a:prstGeom>
          <a:noFill/>
          <a:ln/>
        </p:spPr>
        <p:txBody>
          <a:bodyPr wrap="square" rtlCol="0" anchor="ctr"/>
          <a:lstStyle/>
          <a:p>
            <a:pPr algn="ctr" indent="0" marL="0">
              <a:buNone/>
            </a:pPr>
            <a:r>
              <a:rPr lang="en-US" sz="1500" dirty="0">
                <a:solidFill>
                  <a:srgbClr val="7B818C"/>
                </a:solidFill>
                <a:latin typeface="Calibri" pitchFamily="34" charset="0"/>
                <a:ea typeface="Calibri" pitchFamily="34" charset="-122"/>
                <a:cs typeface="Calibri" pitchFamily="34" charset="-120"/>
              </a:rPr>
              <a:t>Reusable credential</a:t>
            </a:r>
            <a:endParaRPr lang="en-US" sz="1500" dirty="0"/>
          </a:p>
        </p:txBody>
      </p:sp>
      <p:sp>
        <p:nvSpPr>
          <p:cNvPr id="6" name="Text 4"/>
          <p:cNvSpPr/>
          <p:nvPr/>
        </p:nvSpPr>
        <p:spPr>
          <a:xfrm>
            <a:off x="3749040" y="2788920"/>
            <a:ext cx="502920" cy="777240"/>
          </a:xfrm>
          <a:prstGeom prst="rect">
            <a:avLst/>
          </a:prstGeom>
          <a:noFill/>
          <a:ln/>
        </p:spPr>
        <p:txBody>
          <a:bodyPr wrap="square" rtlCol="0" anchor="ctr"/>
          <a:lstStyle/>
          <a:p>
            <a:pPr algn="ctr" indent="0" marL="0">
              <a:buNone/>
            </a:pPr>
            <a:r>
              <a:rPr lang="en-US" sz="2200" dirty="0">
                <a:solidFill>
                  <a:srgbClr val="7B818C"/>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4251960" y="2788920"/>
            <a:ext cx="3063240" cy="777240"/>
          </a:xfrm>
          <a:prstGeom prst="roundRect">
            <a:avLst>
              <a:gd name="adj" fmla="val 9412"/>
            </a:avLst>
          </a:prstGeom>
          <a:solidFill>
            <a:srgbClr val="F7F8FA"/>
          </a:solidFill>
          <a:ln w="19050">
            <a:solidFill>
              <a:srgbClr val="7B818C"/>
            </a:solidFill>
            <a:prstDash val="solid"/>
          </a:ln>
        </p:spPr>
      </p:sp>
      <p:sp>
        <p:nvSpPr>
          <p:cNvPr id="8" name="Text 6"/>
          <p:cNvSpPr/>
          <p:nvPr/>
        </p:nvSpPr>
        <p:spPr>
          <a:xfrm>
            <a:off x="4251960" y="2788920"/>
            <a:ext cx="3063240" cy="777240"/>
          </a:xfrm>
          <a:prstGeom prst="rect">
            <a:avLst/>
          </a:prstGeom>
          <a:noFill/>
          <a:ln/>
        </p:spPr>
        <p:txBody>
          <a:bodyPr wrap="square" rtlCol="0" anchor="ctr"/>
          <a:lstStyle/>
          <a:p>
            <a:pPr algn="ctr" indent="0" marL="0">
              <a:buNone/>
            </a:pPr>
            <a:r>
              <a:rPr lang="en-US" sz="1500" dirty="0">
                <a:solidFill>
                  <a:srgbClr val="7B818C"/>
                </a:solidFill>
                <a:latin typeface="Calibri" pitchFamily="34" charset="0"/>
                <a:ea typeface="Calibri" pitchFamily="34" charset="-122"/>
                <a:cs typeface="Calibri" pitchFamily="34" charset="-120"/>
              </a:rPr>
              <a:t>Merchant payment system</a:t>
            </a:r>
            <a:endParaRPr lang="en-US" sz="1500" dirty="0"/>
          </a:p>
        </p:txBody>
      </p:sp>
      <p:sp>
        <p:nvSpPr>
          <p:cNvPr id="9" name="Text 7"/>
          <p:cNvSpPr/>
          <p:nvPr/>
        </p:nvSpPr>
        <p:spPr>
          <a:xfrm>
            <a:off x="7315200" y="2788920"/>
            <a:ext cx="502920" cy="777240"/>
          </a:xfrm>
          <a:prstGeom prst="rect">
            <a:avLst/>
          </a:prstGeom>
          <a:noFill/>
          <a:ln/>
        </p:spPr>
        <p:txBody>
          <a:bodyPr wrap="square" rtlCol="0" anchor="ctr"/>
          <a:lstStyle/>
          <a:p>
            <a:pPr algn="ctr" indent="0" marL="0">
              <a:buNone/>
            </a:pPr>
            <a:r>
              <a:rPr lang="en-US" sz="2200" dirty="0">
                <a:solidFill>
                  <a:srgbClr val="7B818C"/>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7818120" y="2788920"/>
            <a:ext cx="3063240" cy="777240"/>
          </a:xfrm>
          <a:prstGeom prst="roundRect">
            <a:avLst>
              <a:gd name="adj" fmla="val 9412"/>
            </a:avLst>
          </a:prstGeom>
          <a:solidFill>
            <a:srgbClr val="F7F8FA"/>
          </a:solidFill>
          <a:ln w="19050">
            <a:solidFill>
              <a:srgbClr val="7B818C"/>
            </a:solidFill>
            <a:prstDash val="solid"/>
          </a:ln>
        </p:spPr>
      </p:sp>
      <p:sp>
        <p:nvSpPr>
          <p:cNvPr id="11" name="Text 9"/>
          <p:cNvSpPr/>
          <p:nvPr/>
        </p:nvSpPr>
        <p:spPr>
          <a:xfrm>
            <a:off x="7818120" y="2788920"/>
            <a:ext cx="3063240" cy="777240"/>
          </a:xfrm>
          <a:prstGeom prst="rect">
            <a:avLst/>
          </a:prstGeom>
          <a:noFill/>
          <a:ln/>
        </p:spPr>
        <p:txBody>
          <a:bodyPr wrap="square" rtlCol="0" anchor="ctr"/>
          <a:lstStyle/>
          <a:p>
            <a:pPr algn="ctr" indent="0" marL="0">
              <a:buNone/>
            </a:pPr>
            <a:r>
              <a:rPr lang="en-US" sz="1500" dirty="0">
                <a:solidFill>
                  <a:srgbClr val="7B818C"/>
                </a:solidFill>
                <a:latin typeface="Calibri" pitchFamily="34" charset="0"/>
                <a:ea typeface="Calibri" pitchFamily="34" charset="-122"/>
                <a:cs typeface="Calibri" pitchFamily="34" charset="-120"/>
              </a:rPr>
              <a:t>Processor</a:t>
            </a:r>
            <a:endParaRPr lang="en-US" sz="1500" dirty="0"/>
          </a:p>
        </p:txBody>
      </p:sp>
      <p:sp>
        <p:nvSpPr>
          <p:cNvPr id="12" name="Text 10"/>
          <p:cNvSpPr/>
          <p:nvPr/>
        </p:nvSpPr>
        <p:spPr>
          <a:xfrm>
            <a:off x="685800" y="2331720"/>
            <a:ext cx="3657600" cy="365760"/>
          </a:xfrm>
          <a:prstGeom prst="rect">
            <a:avLst/>
          </a:prstGeom>
          <a:noFill/>
          <a:ln/>
        </p:spPr>
        <p:txBody>
          <a:bodyPr wrap="square" rtlCol="0" anchor="ctr"/>
          <a:lstStyle/>
          <a:p>
            <a:pPr indent="0" marL="0">
              <a:buNone/>
            </a:pPr>
            <a:r>
              <a:rPr lang="en-US" sz="1400" b="1" dirty="0">
                <a:solidFill>
                  <a:srgbClr val="7B818C"/>
                </a:solidFill>
                <a:latin typeface="Calibri" pitchFamily="34" charset="0"/>
                <a:ea typeface="Calibri" pitchFamily="34" charset="-122"/>
                <a:cs typeface="Calibri" pitchFamily="34" charset="-120"/>
              </a:rPr>
              <a:t>Traditional model</a:t>
            </a:r>
            <a:endParaRPr lang="en-US" sz="1400" dirty="0"/>
          </a:p>
        </p:txBody>
      </p:sp>
      <p:sp>
        <p:nvSpPr>
          <p:cNvPr id="13" name="Shape 11"/>
          <p:cNvSpPr/>
          <p:nvPr/>
        </p:nvSpPr>
        <p:spPr>
          <a:xfrm>
            <a:off x="685800" y="4251960"/>
            <a:ext cx="3063240" cy="777240"/>
          </a:xfrm>
          <a:prstGeom prst="roundRect">
            <a:avLst>
              <a:gd name="adj" fmla="val 9412"/>
            </a:avLst>
          </a:prstGeom>
          <a:solidFill>
            <a:srgbClr val="F7F8FA"/>
          </a:solidFill>
          <a:ln w="19050">
            <a:solidFill>
              <a:srgbClr val="7C5CFC"/>
            </a:solidFill>
            <a:prstDash val="solid"/>
          </a:ln>
        </p:spPr>
      </p:sp>
      <p:sp>
        <p:nvSpPr>
          <p:cNvPr id="14" name="Text 12"/>
          <p:cNvSpPr/>
          <p:nvPr/>
        </p:nvSpPr>
        <p:spPr>
          <a:xfrm>
            <a:off x="685800" y="4251960"/>
            <a:ext cx="3063240" cy="777240"/>
          </a:xfrm>
          <a:prstGeom prst="rect">
            <a:avLst/>
          </a:prstGeom>
          <a:noFill/>
          <a:ln/>
        </p:spPr>
        <p:txBody>
          <a:bodyPr wrap="square" rtlCol="0" anchor="ctr"/>
          <a:lstStyle/>
          <a:p>
            <a:pPr algn="ctr" indent="0" marL="0">
              <a:buNone/>
            </a:pPr>
            <a:r>
              <a:rPr lang="en-US" sz="1500" b="1" dirty="0">
                <a:solidFill>
                  <a:srgbClr val="0B0D10"/>
                </a:solidFill>
                <a:latin typeface="Calibri" pitchFamily="34" charset="0"/>
                <a:ea typeface="Calibri" pitchFamily="34" charset="-122"/>
                <a:cs typeface="Calibri" pitchFamily="34" charset="-120"/>
              </a:rPr>
              <a:t>Payment request</a:t>
            </a:r>
            <a:endParaRPr lang="en-US" sz="1500" dirty="0"/>
          </a:p>
        </p:txBody>
      </p:sp>
      <p:sp>
        <p:nvSpPr>
          <p:cNvPr id="15" name="Text 13"/>
          <p:cNvSpPr/>
          <p:nvPr/>
        </p:nvSpPr>
        <p:spPr>
          <a:xfrm>
            <a:off x="3749040" y="4251960"/>
            <a:ext cx="502920" cy="777240"/>
          </a:xfrm>
          <a:prstGeom prst="rect">
            <a:avLst/>
          </a:prstGeom>
          <a:noFill/>
          <a:ln/>
        </p:spPr>
        <p:txBody>
          <a:bodyPr wrap="square" rtlCol="0" anchor="ctr"/>
          <a:lstStyle/>
          <a:p>
            <a:pPr algn="ctr" indent="0" marL="0">
              <a:buNone/>
            </a:pPr>
            <a:r>
              <a:rPr lang="en-US" sz="2200" dirty="0">
                <a:solidFill>
                  <a:srgbClr val="7C5CFC"/>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4251960" y="4251960"/>
            <a:ext cx="3063240" cy="777240"/>
          </a:xfrm>
          <a:prstGeom prst="roundRect">
            <a:avLst>
              <a:gd name="adj" fmla="val 9412"/>
            </a:avLst>
          </a:prstGeom>
          <a:solidFill>
            <a:srgbClr val="F7F8FA"/>
          </a:solidFill>
          <a:ln w="19050">
            <a:solidFill>
              <a:srgbClr val="7C5CFC"/>
            </a:solidFill>
            <a:prstDash val="solid"/>
          </a:ln>
        </p:spPr>
      </p:sp>
      <p:sp>
        <p:nvSpPr>
          <p:cNvPr id="17" name="Text 15"/>
          <p:cNvSpPr/>
          <p:nvPr/>
        </p:nvSpPr>
        <p:spPr>
          <a:xfrm>
            <a:off x="4251960" y="4251960"/>
            <a:ext cx="3063240" cy="777240"/>
          </a:xfrm>
          <a:prstGeom prst="rect">
            <a:avLst/>
          </a:prstGeom>
          <a:noFill/>
          <a:ln/>
        </p:spPr>
        <p:txBody>
          <a:bodyPr wrap="square" rtlCol="0" anchor="ctr"/>
          <a:lstStyle/>
          <a:p>
            <a:pPr algn="ctr" indent="0" marL="0">
              <a:buNone/>
            </a:pPr>
            <a:r>
              <a:rPr lang="en-US" sz="1500" b="1" dirty="0">
                <a:solidFill>
                  <a:srgbClr val="0B0D10"/>
                </a:solidFill>
                <a:latin typeface="Calibri" pitchFamily="34" charset="0"/>
                <a:ea typeface="Calibri" pitchFamily="34" charset="-122"/>
                <a:cs typeface="Calibri" pitchFamily="34" charset="-120"/>
              </a:rPr>
              <a:t>Customer wallet authorization</a:t>
            </a:r>
            <a:endParaRPr lang="en-US" sz="1500" dirty="0"/>
          </a:p>
        </p:txBody>
      </p:sp>
      <p:sp>
        <p:nvSpPr>
          <p:cNvPr id="18" name="Text 16"/>
          <p:cNvSpPr/>
          <p:nvPr/>
        </p:nvSpPr>
        <p:spPr>
          <a:xfrm>
            <a:off x="7315200" y="4251960"/>
            <a:ext cx="502920" cy="777240"/>
          </a:xfrm>
          <a:prstGeom prst="rect">
            <a:avLst/>
          </a:prstGeom>
          <a:noFill/>
          <a:ln/>
        </p:spPr>
        <p:txBody>
          <a:bodyPr wrap="square" rtlCol="0" anchor="ctr"/>
          <a:lstStyle/>
          <a:p>
            <a:pPr algn="ctr" indent="0" marL="0">
              <a:buNone/>
            </a:pPr>
            <a:r>
              <a:rPr lang="en-US" sz="2200" dirty="0">
                <a:solidFill>
                  <a:srgbClr val="7C5CFC"/>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7818120" y="4251960"/>
            <a:ext cx="3063240" cy="777240"/>
          </a:xfrm>
          <a:prstGeom prst="roundRect">
            <a:avLst>
              <a:gd name="adj" fmla="val 9412"/>
            </a:avLst>
          </a:prstGeom>
          <a:solidFill>
            <a:srgbClr val="F7F8FA"/>
          </a:solidFill>
          <a:ln w="19050">
            <a:solidFill>
              <a:srgbClr val="7C5CFC"/>
            </a:solidFill>
            <a:prstDash val="solid"/>
          </a:ln>
        </p:spPr>
      </p:sp>
      <p:sp>
        <p:nvSpPr>
          <p:cNvPr id="20" name="Text 18"/>
          <p:cNvSpPr/>
          <p:nvPr/>
        </p:nvSpPr>
        <p:spPr>
          <a:xfrm>
            <a:off x="7818120" y="4251960"/>
            <a:ext cx="3063240" cy="777240"/>
          </a:xfrm>
          <a:prstGeom prst="rect">
            <a:avLst/>
          </a:prstGeom>
          <a:noFill/>
          <a:ln/>
        </p:spPr>
        <p:txBody>
          <a:bodyPr wrap="square" rtlCol="0" anchor="ctr"/>
          <a:lstStyle/>
          <a:p>
            <a:pPr algn="ctr" indent="0" marL="0">
              <a:buNone/>
            </a:pPr>
            <a:r>
              <a:rPr lang="en-US" sz="1500" b="1" dirty="0">
                <a:solidFill>
                  <a:srgbClr val="0B0D10"/>
                </a:solidFill>
                <a:latin typeface="Calibri" pitchFamily="34" charset="0"/>
                <a:ea typeface="Calibri" pitchFamily="34" charset="-122"/>
                <a:cs typeface="Calibri" pitchFamily="34" charset="-120"/>
              </a:rPr>
              <a:t>Verified Stellar settlement</a:t>
            </a:r>
            <a:endParaRPr lang="en-US" sz="1500" dirty="0"/>
          </a:p>
        </p:txBody>
      </p:sp>
      <p:sp>
        <p:nvSpPr>
          <p:cNvPr id="21" name="Text 19"/>
          <p:cNvSpPr/>
          <p:nvPr/>
        </p:nvSpPr>
        <p:spPr>
          <a:xfrm>
            <a:off x="685800" y="3794760"/>
            <a:ext cx="3657600" cy="365760"/>
          </a:xfrm>
          <a:prstGeom prst="rect">
            <a:avLst/>
          </a:prstGeom>
          <a:noFill/>
          <a:ln/>
        </p:spPr>
        <p:txBody>
          <a:bodyPr wrap="square" rtlCol="0" anchor="ctr"/>
          <a:lstStyle/>
          <a:p>
            <a:pPr indent="0" marL="0">
              <a:buNone/>
            </a:pPr>
            <a:r>
              <a:rPr lang="en-US" sz="1400" b="1" dirty="0">
                <a:solidFill>
                  <a:srgbClr val="7C5CFC"/>
                </a:solidFill>
                <a:latin typeface="Calibri" pitchFamily="34" charset="0"/>
                <a:ea typeface="Calibri" pitchFamily="34" charset="-122"/>
                <a:cs typeface="Calibri" pitchFamily="34" charset="-120"/>
              </a:rPr>
              <a:t>Project ZERO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85800" y="502920"/>
            <a:ext cx="10817352" cy="1005840"/>
          </a:xfrm>
          <a:prstGeom prst="rect">
            <a:avLst/>
          </a:prstGeom>
          <a:noFill/>
          <a:ln/>
        </p:spPr>
        <p:txBody>
          <a:bodyPr wrap="square" rtlCol="0" anchor="ctr"/>
          <a:lstStyle/>
          <a:p>
            <a:pPr indent="0" marL="0">
              <a:buNone/>
            </a:pPr>
            <a:r>
              <a:rPr lang="en-US" sz="3000" b="1" dirty="0">
                <a:solidFill>
                  <a:srgbClr val="0B0D10"/>
                </a:solidFill>
                <a:latin typeface="Arial" pitchFamily="34" charset="0"/>
                <a:ea typeface="Arial" pitchFamily="34" charset="-122"/>
                <a:cs typeface="Arial" pitchFamily="34" charset="-120"/>
              </a:rPr>
              <a:t>Project ZERO replaces screenshots with verifiable payment requests</a:t>
            </a:r>
            <a:endParaRPr lang="en-US" sz="3000" dirty="0"/>
          </a:p>
        </p:txBody>
      </p:sp>
      <p:sp>
        <p:nvSpPr>
          <p:cNvPr id="3" name="Shape 1"/>
          <p:cNvSpPr/>
          <p:nvPr/>
        </p:nvSpPr>
        <p:spPr>
          <a:xfrm>
            <a:off x="1443609" y="2377440"/>
            <a:ext cx="1188720" cy="1188720"/>
          </a:xfrm>
          <a:prstGeom prst="ellipse">
            <a:avLst/>
          </a:prstGeom>
          <a:solidFill>
            <a:srgbClr val="0B0D10"/>
          </a:solidFill>
          <a:ln/>
        </p:spPr>
      </p:sp>
      <p:pic>
        <p:nvPicPr>
          <p:cNvPr id="4" name="Image 0" descr="/home/claude/zero_deck/icons/step_request_violet.png">    </p:cNvPr>
          <p:cNvPicPr>
            <a:picLocks noChangeAspect="1"/>
          </p:cNvPicPr>
          <p:nvPr/>
        </p:nvPicPr>
        <p:blipFill>
          <a:blip r:embed="rId1"/>
          <a:stretch>
            <a:fillRect/>
          </a:stretch>
        </p:blipFill>
        <p:spPr>
          <a:xfrm>
            <a:off x="1717929" y="2651760"/>
            <a:ext cx="640080" cy="640080"/>
          </a:xfrm>
          <a:prstGeom prst="rect">
            <a:avLst/>
          </a:prstGeom>
        </p:spPr>
      </p:pic>
      <p:sp>
        <p:nvSpPr>
          <p:cNvPr id="5" name="Text 2"/>
          <p:cNvSpPr/>
          <p:nvPr/>
        </p:nvSpPr>
        <p:spPr>
          <a:xfrm>
            <a:off x="1443609" y="1965960"/>
            <a:ext cx="1188720" cy="365760"/>
          </a:xfrm>
          <a:prstGeom prst="rect">
            <a:avLst/>
          </a:prstGeom>
          <a:noFill/>
          <a:ln/>
        </p:spPr>
        <p:txBody>
          <a:bodyPr wrap="square" rtlCol="0" anchor="ctr"/>
          <a:lstStyle/>
          <a:p>
            <a:pPr algn="ctr" indent="0" marL="0">
              <a:buNone/>
            </a:pPr>
            <a:r>
              <a:rPr lang="en-US" sz="1600" b="1" dirty="0">
                <a:solidFill>
                  <a:srgbClr val="7C5CFC"/>
                </a:solidFill>
                <a:latin typeface="Calibri" pitchFamily="34" charset="0"/>
                <a:ea typeface="Calibri" pitchFamily="34" charset="-122"/>
                <a:cs typeface="Calibri" pitchFamily="34" charset="-120"/>
              </a:rPr>
              <a:t>1</a:t>
            </a:r>
            <a:endParaRPr lang="en-US" sz="1600" dirty="0"/>
          </a:p>
        </p:txBody>
      </p:sp>
      <p:sp>
        <p:nvSpPr>
          <p:cNvPr id="6" name="Text 3"/>
          <p:cNvSpPr/>
          <p:nvPr/>
        </p:nvSpPr>
        <p:spPr>
          <a:xfrm>
            <a:off x="822960" y="3794760"/>
            <a:ext cx="2430018" cy="1005840"/>
          </a:xfrm>
          <a:prstGeom prst="rect">
            <a:avLst/>
          </a:prstGeom>
          <a:noFill/>
          <a:ln/>
        </p:spPr>
        <p:txBody>
          <a:bodyPr wrap="square" rtlCol="0" anchor="t"/>
          <a:lstStyle/>
          <a:p>
            <a:pPr algn="ctr" indent="0" marL="0">
              <a:buNone/>
            </a:pPr>
            <a:r>
              <a:rPr lang="en-US" sz="1500" dirty="0">
                <a:solidFill>
                  <a:srgbClr val="0B0D10"/>
                </a:solidFill>
                <a:latin typeface="Calibri" pitchFamily="34" charset="0"/>
                <a:ea typeface="Calibri" pitchFamily="34" charset="-122"/>
                <a:cs typeface="Calibri" pitchFamily="34" charset="-120"/>
              </a:rPr>
              <a:t>Merchant creates</a:t>
            </a:r>
            <a:endParaRPr lang="en-US" sz="1500" dirty="0"/>
          </a:p>
          <a:p>
            <a:pPr algn="ctr" indent="0" marL="0">
              <a:buNone/>
            </a:pPr>
            <a:r>
              <a:rPr lang="en-US" sz="1500" dirty="0">
                <a:solidFill>
                  <a:srgbClr val="0B0D10"/>
                </a:solidFill>
                <a:latin typeface="Calibri" pitchFamily="34" charset="0"/>
                <a:ea typeface="Calibri" pitchFamily="34" charset="-122"/>
                <a:cs typeface="Calibri" pitchFamily="34" charset="-120"/>
              </a:rPr>
              <a:t>a payment request</a:t>
            </a:r>
            <a:endParaRPr lang="en-US" sz="1500" dirty="0"/>
          </a:p>
        </p:txBody>
      </p:sp>
      <p:sp>
        <p:nvSpPr>
          <p:cNvPr id="7" name="Shape 4"/>
          <p:cNvSpPr/>
          <p:nvPr/>
        </p:nvSpPr>
        <p:spPr>
          <a:xfrm>
            <a:off x="2632329" y="2971800"/>
            <a:ext cx="1515618" cy="0"/>
          </a:xfrm>
          <a:prstGeom prst="line">
            <a:avLst/>
          </a:prstGeom>
          <a:noFill/>
          <a:ln w="15875">
            <a:solidFill>
              <a:srgbClr val="7B818C"/>
            </a:solidFill>
            <a:prstDash val="dash"/>
          </a:ln>
        </p:spPr>
      </p:sp>
      <p:sp>
        <p:nvSpPr>
          <p:cNvPr id="8" name="Shape 5"/>
          <p:cNvSpPr/>
          <p:nvPr/>
        </p:nvSpPr>
        <p:spPr>
          <a:xfrm>
            <a:off x="4147947" y="2377440"/>
            <a:ext cx="1188720" cy="1188720"/>
          </a:xfrm>
          <a:prstGeom prst="ellipse">
            <a:avLst/>
          </a:prstGeom>
          <a:solidFill>
            <a:srgbClr val="0B0D10"/>
          </a:solidFill>
          <a:ln/>
        </p:spPr>
      </p:sp>
      <p:pic>
        <p:nvPicPr>
          <p:cNvPr id="9" name="Image 1" descr="/home/claude/zero_deck/icons/step_qr_violet.png">    </p:cNvPr>
          <p:cNvPicPr>
            <a:picLocks noChangeAspect="1"/>
          </p:cNvPicPr>
          <p:nvPr/>
        </p:nvPicPr>
        <p:blipFill>
          <a:blip r:embed="rId2"/>
          <a:stretch>
            <a:fillRect/>
          </a:stretch>
        </p:blipFill>
        <p:spPr>
          <a:xfrm>
            <a:off x="4422267" y="2651760"/>
            <a:ext cx="640080" cy="640080"/>
          </a:xfrm>
          <a:prstGeom prst="rect">
            <a:avLst/>
          </a:prstGeom>
        </p:spPr>
      </p:pic>
      <p:sp>
        <p:nvSpPr>
          <p:cNvPr id="10" name="Text 6"/>
          <p:cNvSpPr/>
          <p:nvPr/>
        </p:nvSpPr>
        <p:spPr>
          <a:xfrm>
            <a:off x="4147947" y="1965960"/>
            <a:ext cx="1188720" cy="365760"/>
          </a:xfrm>
          <a:prstGeom prst="rect">
            <a:avLst/>
          </a:prstGeom>
          <a:noFill/>
          <a:ln/>
        </p:spPr>
        <p:txBody>
          <a:bodyPr wrap="square" rtlCol="0" anchor="ctr"/>
          <a:lstStyle/>
          <a:p>
            <a:pPr algn="ctr" indent="0" marL="0">
              <a:buNone/>
            </a:pPr>
            <a:r>
              <a:rPr lang="en-US" sz="1600" b="1" dirty="0">
                <a:solidFill>
                  <a:srgbClr val="7C5CFC"/>
                </a:solidFill>
                <a:latin typeface="Calibri" pitchFamily="34" charset="0"/>
                <a:ea typeface="Calibri" pitchFamily="34" charset="-122"/>
                <a:cs typeface="Calibri" pitchFamily="34" charset="-120"/>
              </a:rPr>
              <a:t>2</a:t>
            </a:r>
            <a:endParaRPr lang="en-US" sz="1600" dirty="0"/>
          </a:p>
        </p:txBody>
      </p:sp>
      <p:sp>
        <p:nvSpPr>
          <p:cNvPr id="11" name="Text 7"/>
          <p:cNvSpPr/>
          <p:nvPr/>
        </p:nvSpPr>
        <p:spPr>
          <a:xfrm>
            <a:off x="3527298" y="3794760"/>
            <a:ext cx="2430018" cy="1005840"/>
          </a:xfrm>
          <a:prstGeom prst="rect">
            <a:avLst/>
          </a:prstGeom>
          <a:noFill/>
          <a:ln/>
        </p:spPr>
        <p:txBody>
          <a:bodyPr wrap="square" rtlCol="0" anchor="t"/>
          <a:lstStyle/>
          <a:p>
            <a:pPr algn="ctr" indent="0" marL="0">
              <a:buNone/>
            </a:pPr>
            <a:r>
              <a:rPr lang="en-US" sz="1500" dirty="0">
                <a:solidFill>
                  <a:srgbClr val="0B0D10"/>
                </a:solidFill>
                <a:latin typeface="Calibri" pitchFamily="34" charset="0"/>
                <a:ea typeface="Calibri" pitchFamily="34" charset="-122"/>
                <a:cs typeface="Calibri" pitchFamily="34" charset="-120"/>
              </a:rPr>
              <a:t>Customer opens the</a:t>
            </a:r>
            <a:endParaRPr lang="en-US" sz="1500" dirty="0"/>
          </a:p>
          <a:p>
            <a:pPr algn="ctr" indent="0" marL="0">
              <a:buNone/>
            </a:pPr>
            <a:r>
              <a:rPr lang="en-US" sz="1500" dirty="0">
                <a:solidFill>
                  <a:srgbClr val="0B0D10"/>
                </a:solidFill>
                <a:latin typeface="Calibri" pitchFamily="34" charset="0"/>
                <a:ea typeface="Calibri" pitchFamily="34" charset="-122"/>
                <a:cs typeface="Calibri" pitchFamily="34" charset="-120"/>
              </a:rPr>
              <a:t>link or scans a QR code</a:t>
            </a:r>
            <a:endParaRPr lang="en-US" sz="1500" dirty="0"/>
          </a:p>
        </p:txBody>
      </p:sp>
      <p:sp>
        <p:nvSpPr>
          <p:cNvPr id="12" name="Shape 8"/>
          <p:cNvSpPr/>
          <p:nvPr/>
        </p:nvSpPr>
        <p:spPr>
          <a:xfrm>
            <a:off x="5336667" y="2971800"/>
            <a:ext cx="1515618" cy="0"/>
          </a:xfrm>
          <a:prstGeom prst="line">
            <a:avLst/>
          </a:prstGeom>
          <a:noFill/>
          <a:ln w="15875">
            <a:solidFill>
              <a:srgbClr val="7B818C"/>
            </a:solidFill>
            <a:prstDash val="dash"/>
          </a:ln>
        </p:spPr>
      </p:sp>
      <p:sp>
        <p:nvSpPr>
          <p:cNvPr id="13" name="Shape 9"/>
          <p:cNvSpPr/>
          <p:nvPr/>
        </p:nvSpPr>
        <p:spPr>
          <a:xfrm>
            <a:off x="6852285" y="2377440"/>
            <a:ext cx="1188720" cy="1188720"/>
          </a:xfrm>
          <a:prstGeom prst="ellipse">
            <a:avLst/>
          </a:prstGeom>
          <a:solidFill>
            <a:srgbClr val="0B0D10"/>
          </a:solidFill>
          <a:ln/>
        </p:spPr>
      </p:sp>
      <p:pic>
        <p:nvPicPr>
          <p:cNvPr id="14" name="Image 2" descr="/home/claude/zero_deck/icons/step_wallet_violet.png">    </p:cNvPr>
          <p:cNvPicPr>
            <a:picLocks noChangeAspect="1"/>
          </p:cNvPicPr>
          <p:nvPr/>
        </p:nvPicPr>
        <p:blipFill>
          <a:blip r:embed="rId3"/>
          <a:stretch>
            <a:fillRect/>
          </a:stretch>
        </p:blipFill>
        <p:spPr>
          <a:xfrm>
            <a:off x="7126605" y="2651760"/>
            <a:ext cx="640080" cy="640080"/>
          </a:xfrm>
          <a:prstGeom prst="rect">
            <a:avLst/>
          </a:prstGeom>
        </p:spPr>
      </p:pic>
      <p:sp>
        <p:nvSpPr>
          <p:cNvPr id="15" name="Text 10"/>
          <p:cNvSpPr/>
          <p:nvPr/>
        </p:nvSpPr>
        <p:spPr>
          <a:xfrm>
            <a:off x="6852285" y="1965960"/>
            <a:ext cx="1188720" cy="365760"/>
          </a:xfrm>
          <a:prstGeom prst="rect">
            <a:avLst/>
          </a:prstGeom>
          <a:noFill/>
          <a:ln/>
        </p:spPr>
        <p:txBody>
          <a:bodyPr wrap="square" rtlCol="0" anchor="ctr"/>
          <a:lstStyle/>
          <a:p>
            <a:pPr algn="ctr" indent="0" marL="0">
              <a:buNone/>
            </a:pPr>
            <a:r>
              <a:rPr lang="en-US" sz="1600" b="1" dirty="0">
                <a:solidFill>
                  <a:srgbClr val="7C5CFC"/>
                </a:solidFill>
                <a:latin typeface="Calibri" pitchFamily="34" charset="0"/>
                <a:ea typeface="Calibri" pitchFamily="34" charset="-122"/>
                <a:cs typeface="Calibri" pitchFamily="34" charset="-120"/>
              </a:rPr>
              <a:t>3</a:t>
            </a:r>
            <a:endParaRPr lang="en-US" sz="1600" dirty="0"/>
          </a:p>
        </p:txBody>
      </p:sp>
      <p:sp>
        <p:nvSpPr>
          <p:cNvPr id="16" name="Text 11"/>
          <p:cNvSpPr/>
          <p:nvPr/>
        </p:nvSpPr>
        <p:spPr>
          <a:xfrm>
            <a:off x="6231636" y="3794760"/>
            <a:ext cx="2430018" cy="1005840"/>
          </a:xfrm>
          <a:prstGeom prst="rect">
            <a:avLst/>
          </a:prstGeom>
          <a:noFill/>
          <a:ln/>
        </p:spPr>
        <p:txBody>
          <a:bodyPr wrap="square" rtlCol="0" anchor="t"/>
          <a:lstStyle/>
          <a:p>
            <a:pPr algn="ctr" indent="0" marL="0">
              <a:buNone/>
            </a:pPr>
            <a:r>
              <a:rPr lang="en-US" sz="1500" dirty="0">
                <a:solidFill>
                  <a:srgbClr val="0B0D10"/>
                </a:solidFill>
                <a:latin typeface="Calibri" pitchFamily="34" charset="0"/>
                <a:ea typeface="Calibri" pitchFamily="34" charset="-122"/>
                <a:cs typeface="Calibri" pitchFamily="34" charset="-120"/>
              </a:rPr>
              <a:t>Customer reviews and</a:t>
            </a:r>
            <a:endParaRPr lang="en-US" sz="1500" dirty="0"/>
          </a:p>
          <a:p>
            <a:pPr algn="ctr" indent="0" marL="0">
              <a:buNone/>
            </a:pPr>
            <a:r>
              <a:rPr lang="en-US" sz="1500" dirty="0">
                <a:solidFill>
                  <a:srgbClr val="0B0D10"/>
                </a:solidFill>
                <a:latin typeface="Calibri" pitchFamily="34" charset="0"/>
                <a:ea typeface="Calibri" pitchFamily="34" charset="-122"/>
                <a:cs typeface="Calibri" pitchFamily="34" charset="-120"/>
              </a:rPr>
              <a:t>authorizes in their wallet</a:t>
            </a:r>
            <a:endParaRPr lang="en-US" sz="1500" dirty="0"/>
          </a:p>
        </p:txBody>
      </p:sp>
      <p:sp>
        <p:nvSpPr>
          <p:cNvPr id="17" name="Shape 12"/>
          <p:cNvSpPr/>
          <p:nvPr/>
        </p:nvSpPr>
        <p:spPr>
          <a:xfrm>
            <a:off x="8041005" y="2971800"/>
            <a:ext cx="1515618" cy="0"/>
          </a:xfrm>
          <a:prstGeom prst="line">
            <a:avLst/>
          </a:prstGeom>
          <a:noFill/>
          <a:ln w="15875">
            <a:solidFill>
              <a:srgbClr val="7B818C"/>
            </a:solidFill>
            <a:prstDash val="dash"/>
          </a:ln>
        </p:spPr>
      </p:sp>
      <p:sp>
        <p:nvSpPr>
          <p:cNvPr id="18" name="Shape 13"/>
          <p:cNvSpPr/>
          <p:nvPr/>
        </p:nvSpPr>
        <p:spPr>
          <a:xfrm>
            <a:off x="9556623" y="2377440"/>
            <a:ext cx="1188720" cy="1188720"/>
          </a:xfrm>
          <a:prstGeom prst="ellipse">
            <a:avLst/>
          </a:prstGeom>
          <a:solidFill>
            <a:srgbClr val="0B0D10"/>
          </a:solidFill>
          <a:ln/>
        </p:spPr>
      </p:sp>
      <p:pic>
        <p:nvPicPr>
          <p:cNvPr id="19" name="Image 3" descr="/home/claude/zero_deck/icons/step_verified_violet.png">    </p:cNvPr>
          <p:cNvPicPr>
            <a:picLocks noChangeAspect="1"/>
          </p:cNvPicPr>
          <p:nvPr/>
        </p:nvPicPr>
        <p:blipFill>
          <a:blip r:embed="rId4"/>
          <a:stretch>
            <a:fillRect/>
          </a:stretch>
        </p:blipFill>
        <p:spPr>
          <a:xfrm>
            <a:off x="9830943" y="2651760"/>
            <a:ext cx="640080" cy="640080"/>
          </a:xfrm>
          <a:prstGeom prst="rect">
            <a:avLst/>
          </a:prstGeom>
        </p:spPr>
      </p:pic>
      <p:sp>
        <p:nvSpPr>
          <p:cNvPr id="20" name="Text 14"/>
          <p:cNvSpPr/>
          <p:nvPr/>
        </p:nvSpPr>
        <p:spPr>
          <a:xfrm>
            <a:off x="9556623" y="1965960"/>
            <a:ext cx="1188720" cy="365760"/>
          </a:xfrm>
          <a:prstGeom prst="rect">
            <a:avLst/>
          </a:prstGeom>
          <a:noFill/>
          <a:ln/>
        </p:spPr>
        <p:txBody>
          <a:bodyPr wrap="square" rtlCol="0" anchor="ctr"/>
          <a:lstStyle/>
          <a:p>
            <a:pPr algn="ctr" indent="0" marL="0">
              <a:buNone/>
            </a:pPr>
            <a:r>
              <a:rPr lang="en-US" sz="1600" b="1" dirty="0">
                <a:solidFill>
                  <a:srgbClr val="7C5CFC"/>
                </a:solidFill>
                <a:latin typeface="Calibri" pitchFamily="34" charset="0"/>
                <a:ea typeface="Calibri" pitchFamily="34" charset="-122"/>
                <a:cs typeface="Calibri" pitchFamily="34" charset="-120"/>
              </a:rPr>
              <a:t>4</a:t>
            </a:r>
            <a:endParaRPr lang="en-US" sz="1600" dirty="0"/>
          </a:p>
        </p:txBody>
      </p:sp>
      <p:sp>
        <p:nvSpPr>
          <p:cNvPr id="21" name="Text 15"/>
          <p:cNvSpPr/>
          <p:nvPr/>
        </p:nvSpPr>
        <p:spPr>
          <a:xfrm>
            <a:off x="8935974" y="3794760"/>
            <a:ext cx="2430018" cy="1005840"/>
          </a:xfrm>
          <a:prstGeom prst="rect">
            <a:avLst/>
          </a:prstGeom>
          <a:noFill/>
          <a:ln/>
        </p:spPr>
        <p:txBody>
          <a:bodyPr wrap="square" rtlCol="0" anchor="t"/>
          <a:lstStyle/>
          <a:p>
            <a:pPr algn="ctr" indent="0" marL="0">
              <a:buNone/>
            </a:pPr>
            <a:r>
              <a:rPr lang="en-US" sz="1500" dirty="0">
                <a:solidFill>
                  <a:srgbClr val="0B0D10"/>
                </a:solidFill>
                <a:latin typeface="Calibri" pitchFamily="34" charset="0"/>
                <a:ea typeface="Calibri" pitchFamily="34" charset="-122"/>
                <a:cs typeface="Calibri" pitchFamily="34" charset="-120"/>
              </a:rPr>
              <a:t>Project ZERO verifies</a:t>
            </a:r>
            <a:endParaRPr lang="en-US" sz="1500" dirty="0"/>
          </a:p>
          <a:p>
            <a:pPr algn="ctr" indent="0" marL="0">
              <a:buNone/>
            </a:pPr>
            <a:r>
              <a:rPr lang="en-US" sz="1500" dirty="0">
                <a:solidFill>
                  <a:srgbClr val="0B0D10"/>
                </a:solidFill>
                <a:latin typeface="Calibri" pitchFamily="34" charset="0"/>
                <a:ea typeface="Calibri" pitchFamily="34" charset="-122"/>
                <a:cs typeface="Calibri" pitchFamily="34" charset="-120"/>
              </a:rPr>
              <a:t>and marks it paid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85800" y="502920"/>
            <a:ext cx="10817352" cy="1005840"/>
          </a:xfrm>
          <a:prstGeom prst="rect">
            <a:avLst/>
          </a:prstGeom>
          <a:noFill/>
          <a:ln/>
        </p:spPr>
        <p:txBody>
          <a:bodyPr wrap="square" rtlCol="0" anchor="ctr"/>
          <a:lstStyle/>
          <a:p>
            <a:pPr indent="0" marL="0">
              <a:buNone/>
            </a:pPr>
            <a:r>
              <a:rPr lang="en-US" sz="2800" b="1" dirty="0">
                <a:solidFill>
                  <a:srgbClr val="F7F8FA"/>
                </a:solidFill>
                <a:latin typeface="Arial" pitchFamily="34" charset="0"/>
                <a:ea typeface="Arial" pitchFamily="34" charset="-122"/>
                <a:cs typeface="Arial" pitchFamily="34" charset="-120"/>
              </a:rPr>
              <a:t>Stellar turns payment confirmation into verifiable network evidence</a:t>
            </a:r>
            <a:endParaRPr lang="en-US" sz="2800" dirty="0"/>
          </a:p>
        </p:txBody>
      </p:sp>
      <p:sp>
        <p:nvSpPr>
          <p:cNvPr id="3" name="Shape 1"/>
          <p:cNvSpPr/>
          <p:nvPr/>
        </p:nvSpPr>
        <p:spPr>
          <a:xfrm>
            <a:off x="608076" y="1920240"/>
            <a:ext cx="1691640" cy="960120"/>
          </a:xfrm>
          <a:prstGeom prst="roundRect">
            <a:avLst>
              <a:gd name="adj" fmla="val 5714"/>
            </a:avLst>
          </a:prstGeom>
          <a:solidFill>
            <a:srgbClr val="15181D"/>
          </a:solidFill>
          <a:ln w="12700">
            <a:solidFill>
              <a:srgbClr val="7C5CFC"/>
            </a:solidFill>
            <a:prstDash val="solid"/>
          </a:ln>
        </p:spPr>
      </p:sp>
      <p:sp>
        <p:nvSpPr>
          <p:cNvPr id="4" name="Text 2"/>
          <p:cNvSpPr/>
          <p:nvPr/>
        </p:nvSpPr>
        <p:spPr>
          <a:xfrm>
            <a:off x="608076" y="1920240"/>
            <a:ext cx="1691640" cy="960120"/>
          </a:xfrm>
          <a:prstGeom prst="rect">
            <a:avLst/>
          </a:prstGeom>
          <a:noFill/>
          <a:ln/>
        </p:spPr>
        <p:txBody>
          <a:bodyPr wrap="square" rtlCol="0" anchor="ctr"/>
          <a:lstStyle/>
          <a:p>
            <a:pPr algn="ctr" indent="0" marL="0">
              <a:buNone/>
            </a:pPr>
            <a:r>
              <a:rPr lang="en-US" sz="1250" dirty="0">
                <a:solidFill>
                  <a:srgbClr val="F7F8FA"/>
                </a:solidFill>
                <a:latin typeface="Calibri" pitchFamily="34" charset="0"/>
                <a:ea typeface="Calibri" pitchFamily="34" charset="-122"/>
                <a:cs typeface="Calibri" pitchFamily="34" charset="-120"/>
              </a:rPr>
              <a:t>Merchant payment request</a:t>
            </a:r>
            <a:endParaRPr lang="en-US" sz="1250" dirty="0"/>
          </a:p>
        </p:txBody>
      </p:sp>
      <p:sp>
        <p:nvSpPr>
          <p:cNvPr id="5" name="Text 3"/>
          <p:cNvSpPr/>
          <p:nvPr/>
        </p:nvSpPr>
        <p:spPr>
          <a:xfrm>
            <a:off x="2299716" y="1920240"/>
            <a:ext cx="164592" cy="960120"/>
          </a:xfrm>
          <a:prstGeom prst="rect">
            <a:avLst/>
          </a:prstGeom>
          <a:noFill/>
          <a:ln/>
        </p:spPr>
        <p:txBody>
          <a:bodyPr wrap="square" rtlCol="0" anchor="ctr"/>
          <a:lstStyle/>
          <a:p>
            <a:pPr algn="ctr" indent="0" marL="0">
              <a:buNone/>
            </a:pPr>
            <a:r>
              <a:rPr lang="en-US" sz="1800" b="1" dirty="0">
                <a:solidFill>
                  <a:srgbClr val="7C5CFC"/>
                </a:solidFill>
                <a:latin typeface="Calibri" pitchFamily="34" charset="0"/>
                <a:ea typeface="Calibri" pitchFamily="34" charset="-122"/>
                <a:cs typeface="Calibri" pitchFamily="34" charset="-120"/>
              </a:rPr>
              <a:t>›</a:t>
            </a:r>
            <a:endParaRPr lang="en-US" sz="1800" dirty="0"/>
          </a:p>
        </p:txBody>
      </p:sp>
      <p:sp>
        <p:nvSpPr>
          <p:cNvPr id="6" name="Shape 4"/>
          <p:cNvSpPr/>
          <p:nvPr/>
        </p:nvSpPr>
        <p:spPr>
          <a:xfrm>
            <a:off x="2464308" y="1920240"/>
            <a:ext cx="1691640" cy="960120"/>
          </a:xfrm>
          <a:prstGeom prst="roundRect">
            <a:avLst>
              <a:gd name="adj" fmla="val 5714"/>
            </a:avLst>
          </a:prstGeom>
          <a:solidFill>
            <a:srgbClr val="15181D"/>
          </a:solidFill>
          <a:ln w="12700">
            <a:solidFill>
              <a:srgbClr val="7C5CFC"/>
            </a:solidFill>
            <a:prstDash val="solid"/>
          </a:ln>
        </p:spPr>
      </p:sp>
      <p:sp>
        <p:nvSpPr>
          <p:cNvPr id="7" name="Text 5"/>
          <p:cNvSpPr/>
          <p:nvPr/>
        </p:nvSpPr>
        <p:spPr>
          <a:xfrm>
            <a:off x="2464308" y="1920240"/>
            <a:ext cx="1691640" cy="960120"/>
          </a:xfrm>
          <a:prstGeom prst="rect">
            <a:avLst/>
          </a:prstGeom>
          <a:noFill/>
          <a:ln/>
        </p:spPr>
        <p:txBody>
          <a:bodyPr wrap="square" rtlCol="0" anchor="ctr"/>
          <a:lstStyle/>
          <a:p>
            <a:pPr algn="ctr" indent="0" marL="0">
              <a:buNone/>
            </a:pPr>
            <a:r>
              <a:rPr lang="en-US" sz="1250" dirty="0">
                <a:solidFill>
                  <a:srgbClr val="F7F8FA"/>
                </a:solidFill>
                <a:latin typeface="Calibri" pitchFamily="34" charset="0"/>
                <a:ea typeface="Calibri" pitchFamily="34" charset="-122"/>
                <a:cs typeface="Calibri" pitchFamily="34" charset="-120"/>
              </a:rPr>
              <a:t>Public link / QR</a:t>
            </a:r>
            <a:endParaRPr lang="en-US" sz="1250" dirty="0"/>
          </a:p>
        </p:txBody>
      </p:sp>
      <p:sp>
        <p:nvSpPr>
          <p:cNvPr id="8" name="Text 6"/>
          <p:cNvSpPr/>
          <p:nvPr/>
        </p:nvSpPr>
        <p:spPr>
          <a:xfrm>
            <a:off x="4155948" y="1920240"/>
            <a:ext cx="164592" cy="960120"/>
          </a:xfrm>
          <a:prstGeom prst="rect">
            <a:avLst/>
          </a:prstGeom>
          <a:noFill/>
          <a:ln/>
        </p:spPr>
        <p:txBody>
          <a:bodyPr wrap="square" rtlCol="0" anchor="ctr"/>
          <a:lstStyle/>
          <a:p>
            <a:pPr algn="ctr" indent="0" marL="0">
              <a:buNone/>
            </a:pPr>
            <a:r>
              <a:rPr lang="en-US" sz="1800" b="1" dirty="0">
                <a:solidFill>
                  <a:srgbClr val="7C5CFC"/>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4320540" y="1920240"/>
            <a:ext cx="1691640" cy="960120"/>
          </a:xfrm>
          <a:prstGeom prst="roundRect">
            <a:avLst>
              <a:gd name="adj" fmla="val 5714"/>
            </a:avLst>
          </a:prstGeom>
          <a:solidFill>
            <a:srgbClr val="15181D"/>
          </a:solidFill>
          <a:ln w="12700">
            <a:solidFill>
              <a:srgbClr val="7C5CFC"/>
            </a:solidFill>
            <a:prstDash val="solid"/>
          </a:ln>
        </p:spPr>
      </p:sp>
      <p:sp>
        <p:nvSpPr>
          <p:cNvPr id="10" name="Text 8"/>
          <p:cNvSpPr/>
          <p:nvPr/>
        </p:nvSpPr>
        <p:spPr>
          <a:xfrm>
            <a:off x="4320540" y="1920240"/>
            <a:ext cx="1691640" cy="960120"/>
          </a:xfrm>
          <a:prstGeom prst="rect">
            <a:avLst/>
          </a:prstGeom>
          <a:noFill/>
          <a:ln/>
        </p:spPr>
        <p:txBody>
          <a:bodyPr wrap="square" rtlCol="0" anchor="ctr"/>
          <a:lstStyle/>
          <a:p>
            <a:pPr algn="ctr" indent="0" marL="0">
              <a:buNone/>
            </a:pPr>
            <a:r>
              <a:rPr lang="en-US" sz="1250" dirty="0">
                <a:solidFill>
                  <a:srgbClr val="F7F8FA"/>
                </a:solidFill>
                <a:latin typeface="Calibri" pitchFamily="34" charset="0"/>
                <a:ea typeface="Calibri" pitchFamily="34" charset="-122"/>
                <a:cs typeface="Calibri" pitchFamily="34" charset="-120"/>
              </a:rPr>
              <a:t>Freighter authorization</a:t>
            </a:r>
            <a:endParaRPr lang="en-US" sz="1250" dirty="0"/>
          </a:p>
        </p:txBody>
      </p:sp>
      <p:sp>
        <p:nvSpPr>
          <p:cNvPr id="11" name="Text 9"/>
          <p:cNvSpPr/>
          <p:nvPr/>
        </p:nvSpPr>
        <p:spPr>
          <a:xfrm>
            <a:off x="6012180" y="1920240"/>
            <a:ext cx="164592" cy="960120"/>
          </a:xfrm>
          <a:prstGeom prst="rect">
            <a:avLst/>
          </a:prstGeom>
          <a:noFill/>
          <a:ln/>
        </p:spPr>
        <p:txBody>
          <a:bodyPr wrap="square" rtlCol="0" anchor="ctr"/>
          <a:lstStyle/>
          <a:p>
            <a:pPr algn="ctr" indent="0" marL="0">
              <a:buNone/>
            </a:pPr>
            <a:r>
              <a:rPr lang="en-US" sz="1800" b="1" dirty="0">
                <a:solidFill>
                  <a:srgbClr val="7C5CFC"/>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6176772" y="1920240"/>
            <a:ext cx="1691640" cy="960120"/>
          </a:xfrm>
          <a:prstGeom prst="roundRect">
            <a:avLst>
              <a:gd name="adj" fmla="val 5714"/>
            </a:avLst>
          </a:prstGeom>
          <a:solidFill>
            <a:srgbClr val="15181D"/>
          </a:solidFill>
          <a:ln w="12700">
            <a:solidFill>
              <a:srgbClr val="7C5CFC"/>
            </a:solidFill>
            <a:prstDash val="solid"/>
          </a:ln>
        </p:spPr>
      </p:sp>
      <p:sp>
        <p:nvSpPr>
          <p:cNvPr id="13" name="Text 11"/>
          <p:cNvSpPr/>
          <p:nvPr/>
        </p:nvSpPr>
        <p:spPr>
          <a:xfrm>
            <a:off x="6176772" y="1920240"/>
            <a:ext cx="1691640" cy="960120"/>
          </a:xfrm>
          <a:prstGeom prst="rect">
            <a:avLst/>
          </a:prstGeom>
          <a:noFill/>
          <a:ln/>
        </p:spPr>
        <p:txBody>
          <a:bodyPr wrap="square" rtlCol="0" anchor="ctr"/>
          <a:lstStyle/>
          <a:p>
            <a:pPr algn="ctr" indent="0" marL="0">
              <a:buNone/>
            </a:pPr>
            <a:r>
              <a:rPr lang="en-US" sz="1250" dirty="0">
                <a:solidFill>
                  <a:srgbClr val="F7F8FA"/>
                </a:solidFill>
                <a:latin typeface="Calibri" pitchFamily="34" charset="0"/>
                <a:ea typeface="Calibri" pitchFamily="34" charset="-122"/>
                <a:cs typeface="Calibri" pitchFamily="34" charset="-120"/>
              </a:rPr>
              <a:t>Stellar settlement</a:t>
            </a:r>
            <a:endParaRPr lang="en-US" sz="1250" dirty="0"/>
          </a:p>
        </p:txBody>
      </p:sp>
      <p:sp>
        <p:nvSpPr>
          <p:cNvPr id="14" name="Text 12"/>
          <p:cNvSpPr/>
          <p:nvPr/>
        </p:nvSpPr>
        <p:spPr>
          <a:xfrm>
            <a:off x="7868412" y="1920240"/>
            <a:ext cx="164592" cy="960120"/>
          </a:xfrm>
          <a:prstGeom prst="rect">
            <a:avLst/>
          </a:prstGeom>
          <a:noFill/>
          <a:ln/>
        </p:spPr>
        <p:txBody>
          <a:bodyPr wrap="square" rtlCol="0" anchor="ctr"/>
          <a:lstStyle/>
          <a:p>
            <a:pPr algn="ctr" indent="0" marL="0">
              <a:buNone/>
            </a:pPr>
            <a:r>
              <a:rPr lang="en-US" sz="1800" b="1" dirty="0">
                <a:solidFill>
                  <a:srgbClr val="7C5CFC"/>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8033004" y="1920240"/>
            <a:ext cx="1691640" cy="960120"/>
          </a:xfrm>
          <a:prstGeom prst="roundRect">
            <a:avLst>
              <a:gd name="adj" fmla="val 5714"/>
            </a:avLst>
          </a:prstGeom>
          <a:solidFill>
            <a:srgbClr val="15181D"/>
          </a:solidFill>
          <a:ln w="12700">
            <a:solidFill>
              <a:srgbClr val="7C5CFC"/>
            </a:solidFill>
            <a:prstDash val="solid"/>
          </a:ln>
        </p:spPr>
      </p:sp>
      <p:sp>
        <p:nvSpPr>
          <p:cNvPr id="16" name="Text 14"/>
          <p:cNvSpPr/>
          <p:nvPr/>
        </p:nvSpPr>
        <p:spPr>
          <a:xfrm>
            <a:off x="8033004" y="1920240"/>
            <a:ext cx="1691640" cy="960120"/>
          </a:xfrm>
          <a:prstGeom prst="rect">
            <a:avLst/>
          </a:prstGeom>
          <a:noFill/>
          <a:ln/>
        </p:spPr>
        <p:txBody>
          <a:bodyPr wrap="square" rtlCol="0" anchor="ctr"/>
          <a:lstStyle/>
          <a:p>
            <a:pPr algn="ctr" indent="0" marL="0">
              <a:buNone/>
            </a:pPr>
            <a:r>
              <a:rPr lang="en-US" sz="1250" dirty="0">
                <a:solidFill>
                  <a:srgbClr val="F7F8FA"/>
                </a:solidFill>
                <a:latin typeface="Calibri" pitchFamily="34" charset="0"/>
                <a:ea typeface="Calibri" pitchFamily="34" charset="-122"/>
                <a:cs typeface="Calibri" pitchFamily="34" charset="-120"/>
              </a:rPr>
              <a:t>Horizon verification</a:t>
            </a:r>
            <a:endParaRPr lang="en-US" sz="1250" dirty="0"/>
          </a:p>
        </p:txBody>
      </p:sp>
      <p:sp>
        <p:nvSpPr>
          <p:cNvPr id="17" name="Text 15"/>
          <p:cNvSpPr/>
          <p:nvPr/>
        </p:nvSpPr>
        <p:spPr>
          <a:xfrm>
            <a:off x="9724644" y="1920240"/>
            <a:ext cx="164592" cy="960120"/>
          </a:xfrm>
          <a:prstGeom prst="rect">
            <a:avLst/>
          </a:prstGeom>
          <a:noFill/>
          <a:ln/>
        </p:spPr>
        <p:txBody>
          <a:bodyPr wrap="square" rtlCol="0" anchor="ctr"/>
          <a:lstStyle/>
          <a:p>
            <a:pPr algn="ctr" indent="0" marL="0">
              <a:buNone/>
            </a:pPr>
            <a:r>
              <a:rPr lang="en-US" sz="1800" b="1" dirty="0">
                <a:solidFill>
                  <a:srgbClr val="7C5CFC"/>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9889236" y="1920240"/>
            <a:ext cx="1691640" cy="960120"/>
          </a:xfrm>
          <a:prstGeom prst="roundRect">
            <a:avLst>
              <a:gd name="adj" fmla="val 5714"/>
            </a:avLst>
          </a:prstGeom>
          <a:solidFill>
            <a:srgbClr val="15181D"/>
          </a:solidFill>
          <a:ln w="12700">
            <a:solidFill>
              <a:srgbClr val="7C5CFC"/>
            </a:solidFill>
            <a:prstDash val="solid"/>
          </a:ln>
        </p:spPr>
      </p:sp>
      <p:sp>
        <p:nvSpPr>
          <p:cNvPr id="19" name="Text 17"/>
          <p:cNvSpPr/>
          <p:nvPr/>
        </p:nvSpPr>
        <p:spPr>
          <a:xfrm>
            <a:off x="9889236" y="1920240"/>
            <a:ext cx="1691640" cy="960120"/>
          </a:xfrm>
          <a:prstGeom prst="rect">
            <a:avLst/>
          </a:prstGeom>
          <a:noFill/>
          <a:ln/>
        </p:spPr>
        <p:txBody>
          <a:bodyPr wrap="square" rtlCol="0" anchor="ctr"/>
          <a:lstStyle/>
          <a:p>
            <a:pPr algn="ctr" indent="0" marL="0">
              <a:buNone/>
            </a:pPr>
            <a:r>
              <a:rPr lang="en-US" sz="1250" dirty="0">
                <a:solidFill>
                  <a:srgbClr val="F7F8FA"/>
                </a:solidFill>
                <a:latin typeface="Calibri" pitchFamily="34" charset="0"/>
                <a:ea typeface="Calibri" pitchFamily="34" charset="-122"/>
                <a:cs typeface="Calibri" pitchFamily="34" charset="-120"/>
              </a:rPr>
              <a:t>Supabase record, paid</a:t>
            </a:r>
            <a:endParaRPr lang="en-US" sz="1250" dirty="0"/>
          </a:p>
        </p:txBody>
      </p:sp>
      <p:sp>
        <p:nvSpPr>
          <p:cNvPr id="20" name="Shape 18"/>
          <p:cNvSpPr/>
          <p:nvPr/>
        </p:nvSpPr>
        <p:spPr>
          <a:xfrm>
            <a:off x="685800" y="3822192"/>
            <a:ext cx="82296" cy="82296"/>
          </a:xfrm>
          <a:prstGeom prst="ellipse">
            <a:avLst/>
          </a:prstGeom>
          <a:solidFill>
            <a:srgbClr val="7C5CFC"/>
          </a:solidFill>
          <a:ln/>
        </p:spPr>
      </p:sp>
      <p:sp>
        <p:nvSpPr>
          <p:cNvPr id="21" name="Text 19"/>
          <p:cNvSpPr/>
          <p:nvPr/>
        </p:nvSpPr>
        <p:spPr>
          <a:xfrm>
            <a:off x="960120" y="3703320"/>
            <a:ext cx="10543032" cy="457200"/>
          </a:xfrm>
          <a:prstGeom prst="rect">
            <a:avLst/>
          </a:prstGeom>
          <a:noFill/>
          <a:ln/>
        </p:spPr>
        <p:txBody>
          <a:bodyPr wrap="square" rtlCol="0" anchor="t"/>
          <a:lstStyle/>
          <a:p>
            <a:pPr indent="0" marL="0">
              <a:buNone/>
            </a:pPr>
            <a:r>
              <a:rPr lang="en-US" sz="1700" dirty="0">
                <a:solidFill>
                  <a:srgbClr val="F7F8FA"/>
                </a:solidFill>
                <a:latin typeface="Calibri" pitchFamily="34" charset="0"/>
                <a:ea typeface="Calibri" pitchFamily="34" charset="-122"/>
                <a:cs typeface="Calibri" pitchFamily="34" charset="-120"/>
              </a:rPr>
              <a:t>Wallet-based authorization keeps customer control local</a:t>
            </a:r>
            <a:endParaRPr lang="en-US" sz="1700" dirty="0"/>
          </a:p>
        </p:txBody>
      </p:sp>
      <p:sp>
        <p:nvSpPr>
          <p:cNvPr id="22" name="Shape 20"/>
          <p:cNvSpPr/>
          <p:nvPr/>
        </p:nvSpPr>
        <p:spPr>
          <a:xfrm>
            <a:off x="685800" y="4443984"/>
            <a:ext cx="82296" cy="82296"/>
          </a:xfrm>
          <a:prstGeom prst="ellipse">
            <a:avLst/>
          </a:prstGeom>
          <a:solidFill>
            <a:srgbClr val="7C5CFC"/>
          </a:solidFill>
          <a:ln/>
        </p:spPr>
      </p:sp>
      <p:sp>
        <p:nvSpPr>
          <p:cNvPr id="23" name="Text 21"/>
          <p:cNvSpPr/>
          <p:nvPr/>
        </p:nvSpPr>
        <p:spPr>
          <a:xfrm>
            <a:off x="960120" y="4325112"/>
            <a:ext cx="10543032" cy="457200"/>
          </a:xfrm>
          <a:prstGeom prst="rect">
            <a:avLst/>
          </a:prstGeom>
          <a:noFill/>
          <a:ln/>
        </p:spPr>
        <p:txBody>
          <a:bodyPr wrap="square" rtlCol="0" anchor="t"/>
          <a:lstStyle/>
          <a:p>
            <a:pPr indent="0" marL="0">
              <a:buNone/>
            </a:pPr>
            <a:r>
              <a:rPr lang="en-US" sz="1700" dirty="0">
                <a:solidFill>
                  <a:srgbClr val="F7F8FA"/>
                </a:solidFill>
                <a:latin typeface="Calibri" pitchFamily="34" charset="0"/>
                <a:ea typeface="Calibri" pitchFamily="34" charset="-122"/>
                <a:cs typeface="Calibri" pitchFamily="34" charset="-120"/>
              </a:rPr>
              <a:t>Every settled transaction is publicly verifiable on-chain</a:t>
            </a:r>
            <a:endParaRPr lang="en-US" sz="1700" dirty="0"/>
          </a:p>
        </p:txBody>
      </p:sp>
      <p:sp>
        <p:nvSpPr>
          <p:cNvPr id="24" name="Shape 22"/>
          <p:cNvSpPr/>
          <p:nvPr/>
        </p:nvSpPr>
        <p:spPr>
          <a:xfrm>
            <a:off x="685800" y="5065776"/>
            <a:ext cx="82296" cy="82296"/>
          </a:xfrm>
          <a:prstGeom prst="ellipse">
            <a:avLst/>
          </a:prstGeom>
          <a:solidFill>
            <a:srgbClr val="7C5CFC"/>
          </a:solidFill>
          <a:ln/>
        </p:spPr>
      </p:sp>
      <p:sp>
        <p:nvSpPr>
          <p:cNvPr id="25" name="Text 23"/>
          <p:cNvSpPr/>
          <p:nvPr/>
        </p:nvSpPr>
        <p:spPr>
          <a:xfrm>
            <a:off x="960120" y="4946904"/>
            <a:ext cx="10543032" cy="457200"/>
          </a:xfrm>
          <a:prstGeom prst="rect">
            <a:avLst/>
          </a:prstGeom>
          <a:noFill/>
          <a:ln/>
        </p:spPr>
        <p:txBody>
          <a:bodyPr wrap="square" rtlCol="0" anchor="t"/>
          <a:lstStyle/>
          <a:p>
            <a:pPr indent="0" marL="0">
              <a:buNone/>
            </a:pPr>
            <a:r>
              <a:rPr lang="en-US" sz="1700" dirty="0">
                <a:solidFill>
                  <a:srgbClr val="F7F8FA"/>
                </a:solidFill>
                <a:latin typeface="Calibri" pitchFamily="34" charset="0"/>
                <a:ea typeface="Calibri" pitchFamily="34" charset="-122"/>
                <a:cs typeface="Calibri" pitchFamily="34" charset="-120"/>
              </a:rPr>
              <a:t>Fast, low-cost settlement, with room for more Stellar assets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85800" y="502920"/>
            <a:ext cx="10817352" cy="914400"/>
          </a:xfrm>
          <a:prstGeom prst="rect">
            <a:avLst/>
          </a:prstGeom>
          <a:noFill/>
          <a:ln/>
        </p:spPr>
        <p:txBody>
          <a:bodyPr wrap="square" rtlCol="0" anchor="ctr"/>
          <a:lstStyle/>
          <a:p>
            <a:pPr indent="0" marL="0">
              <a:buNone/>
            </a:pPr>
            <a:r>
              <a:rPr lang="en-US" sz="3000" b="1" dirty="0">
                <a:solidFill>
                  <a:srgbClr val="0B0D10"/>
                </a:solidFill>
                <a:latin typeface="Arial" pitchFamily="34" charset="0"/>
                <a:ea typeface="Arial" pitchFamily="34" charset="-122"/>
                <a:cs typeface="Arial" pitchFamily="34" charset="-120"/>
              </a:rPr>
              <a:t>A transaction counts only when every expected value matches</a:t>
            </a:r>
            <a:endParaRPr lang="en-US" sz="3000" dirty="0"/>
          </a:p>
        </p:txBody>
      </p:sp>
      <p:sp>
        <p:nvSpPr>
          <p:cNvPr id="3" name="Shape 1"/>
          <p:cNvSpPr/>
          <p:nvPr/>
        </p:nvSpPr>
        <p:spPr>
          <a:xfrm>
            <a:off x="1005840" y="1783080"/>
            <a:ext cx="914400" cy="914400"/>
          </a:xfrm>
          <a:prstGeom prst="ellipse">
            <a:avLst/>
          </a:prstGeom>
          <a:solidFill>
            <a:srgbClr val="F7F8FA"/>
          </a:solidFill>
          <a:ln w="15875">
            <a:solidFill>
              <a:srgbClr val="7B818C"/>
            </a:solidFill>
            <a:prstDash val="solid"/>
          </a:ln>
        </p:spPr>
      </p:sp>
      <p:pic>
        <p:nvPicPr>
          <p:cNvPr id="4" name="Image 0" descr="/home/claude/zero_deck/icons/chk_memo_black.png">    </p:cNvPr>
          <p:cNvPicPr>
            <a:picLocks noChangeAspect="1"/>
          </p:cNvPicPr>
          <p:nvPr/>
        </p:nvPicPr>
        <p:blipFill>
          <a:blip r:embed="rId1"/>
          <a:stretch>
            <a:fillRect/>
          </a:stretch>
        </p:blipFill>
        <p:spPr>
          <a:xfrm>
            <a:off x="1261872" y="2039112"/>
            <a:ext cx="402336" cy="402336"/>
          </a:xfrm>
          <a:prstGeom prst="rect">
            <a:avLst/>
          </a:prstGeom>
        </p:spPr>
      </p:pic>
      <p:sp>
        <p:nvSpPr>
          <p:cNvPr id="5" name="Text 2"/>
          <p:cNvSpPr/>
          <p:nvPr/>
        </p:nvSpPr>
        <p:spPr>
          <a:xfrm>
            <a:off x="731520" y="2743200"/>
            <a:ext cx="1463040" cy="320040"/>
          </a:xfrm>
          <a:prstGeom prst="rect">
            <a:avLst/>
          </a:prstGeom>
          <a:noFill/>
          <a:ln/>
        </p:spPr>
        <p:txBody>
          <a:bodyPr wrap="square" rtlCol="0" anchor="ctr"/>
          <a:lstStyle/>
          <a:p>
            <a:pPr algn="ctr" indent="0" marL="0">
              <a:buNone/>
            </a:pPr>
            <a:r>
              <a:rPr lang="en-US" sz="1300" dirty="0">
                <a:solidFill>
                  <a:srgbClr val="7B818C"/>
                </a:solidFill>
                <a:latin typeface="Calibri" pitchFamily="34" charset="0"/>
                <a:ea typeface="Calibri" pitchFamily="34" charset="-122"/>
                <a:cs typeface="Calibri" pitchFamily="34" charset="-120"/>
              </a:rPr>
              <a:t>Memo</a:t>
            </a:r>
            <a:endParaRPr lang="en-US" sz="1300" dirty="0"/>
          </a:p>
        </p:txBody>
      </p:sp>
      <p:sp>
        <p:nvSpPr>
          <p:cNvPr id="6" name="Shape 3"/>
          <p:cNvSpPr/>
          <p:nvPr/>
        </p:nvSpPr>
        <p:spPr>
          <a:xfrm>
            <a:off x="1920240" y="2240280"/>
            <a:ext cx="1600200" cy="822960"/>
          </a:xfrm>
          <a:prstGeom prst="line">
            <a:avLst/>
          </a:prstGeom>
          <a:noFill/>
          <a:ln w="12700">
            <a:solidFill>
              <a:srgbClr val="7C5CFC"/>
            </a:solidFill>
            <a:prstDash val="solid"/>
          </a:ln>
        </p:spPr>
      </p:sp>
      <p:sp>
        <p:nvSpPr>
          <p:cNvPr id="7" name="Shape 4"/>
          <p:cNvSpPr/>
          <p:nvPr/>
        </p:nvSpPr>
        <p:spPr>
          <a:xfrm>
            <a:off x="1005840" y="2743200"/>
            <a:ext cx="914400" cy="914400"/>
          </a:xfrm>
          <a:prstGeom prst="ellipse">
            <a:avLst/>
          </a:prstGeom>
          <a:solidFill>
            <a:srgbClr val="F7F8FA"/>
          </a:solidFill>
          <a:ln w="15875">
            <a:solidFill>
              <a:srgbClr val="7B818C"/>
            </a:solidFill>
            <a:prstDash val="solid"/>
          </a:ln>
        </p:spPr>
      </p:sp>
      <p:pic>
        <p:nvPicPr>
          <p:cNvPr id="8" name="Image 1" descr="/home/claude/zero_deck/icons/chk_dest_black.png">    </p:cNvPr>
          <p:cNvPicPr>
            <a:picLocks noChangeAspect="1"/>
          </p:cNvPicPr>
          <p:nvPr/>
        </p:nvPicPr>
        <p:blipFill>
          <a:blip r:embed="rId2"/>
          <a:stretch>
            <a:fillRect/>
          </a:stretch>
        </p:blipFill>
        <p:spPr>
          <a:xfrm>
            <a:off x="1261872" y="2999232"/>
            <a:ext cx="402336" cy="402336"/>
          </a:xfrm>
          <a:prstGeom prst="rect">
            <a:avLst/>
          </a:prstGeom>
        </p:spPr>
      </p:pic>
      <p:sp>
        <p:nvSpPr>
          <p:cNvPr id="9" name="Text 5"/>
          <p:cNvSpPr/>
          <p:nvPr/>
        </p:nvSpPr>
        <p:spPr>
          <a:xfrm>
            <a:off x="731520" y="3703320"/>
            <a:ext cx="1463040" cy="320040"/>
          </a:xfrm>
          <a:prstGeom prst="rect">
            <a:avLst/>
          </a:prstGeom>
          <a:noFill/>
          <a:ln/>
        </p:spPr>
        <p:txBody>
          <a:bodyPr wrap="square" rtlCol="0" anchor="ctr"/>
          <a:lstStyle/>
          <a:p>
            <a:pPr algn="ctr" indent="0" marL="0">
              <a:buNone/>
            </a:pPr>
            <a:r>
              <a:rPr lang="en-US" sz="1300" dirty="0">
                <a:solidFill>
                  <a:srgbClr val="7B818C"/>
                </a:solidFill>
                <a:latin typeface="Calibri" pitchFamily="34" charset="0"/>
                <a:ea typeface="Calibri" pitchFamily="34" charset="-122"/>
                <a:cs typeface="Calibri" pitchFamily="34" charset="-120"/>
              </a:rPr>
              <a:t>Destination</a:t>
            </a:r>
            <a:endParaRPr lang="en-US" sz="1300" dirty="0"/>
          </a:p>
        </p:txBody>
      </p:sp>
      <p:sp>
        <p:nvSpPr>
          <p:cNvPr id="10" name="Shape 6"/>
          <p:cNvSpPr/>
          <p:nvPr/>
        </p:nvSpPr>
        <p:spPr>
          <a:xfrm>
            <a:off x="1920240" y="3200400"/>
            <a:ext cx="1600200" cy="-137160"/>
          </a:xfrm>
          <a:prstGeom prst="line">
            <a:avLst/>
          </a:prstGeom>
          <a:noFill/>
          <a:ln w="12700">
            <a:solidFill>
              <a:srgbClr val="7C5CFC"/>
            </a:solidFill>
            <a:prstDash val="solid"/>
          </a:ln>
        </p:spPr>
      </p:sp>
      <p:sp>
        <p:nvSpPr>
          <p:cNvPr id="11" name="Shape 7"/>
          <p:cNvSpPr/>
          <p:nvPr/>
        </p:nvSpPr>
        <p:spPr>
          <a:xfrm>
            <a:off x="1005840" y="3703320"/>
            <a:ext cx="914400" cy="914400"/>
          </a:xfrm>
          <a:prstGeom prst="ellipse">
            <a:avLst/>
          </a:prstGeom>
          <a:solidFill>
            <a:srgbClr val="F7F8FA"/>
          </a:solidFill>
          <a:ln w="15875">
            <a:solidFill>
              <a:srgbClr val="7B818C"/>
            </a:solidFill>
            <a:prstDash val="solid"/>
          </a:ln>
        </p:spPr>
      </p:sp>
      <p:pic>
        <p:nvPicPr>
          <p:cNvPr id="12" name="Image 2" descr="/home/claude/zero_deck/icons/chk_amount_black.png">    </p:cNvPr>
          <p:cNvPicPr>
            <a:picLocks noChangeAspect="1"/>
          </p:cNvPicPr>
          <p:nvPr/>
        </p:nvPicPr>
        <p:blipFill>
          <a:blip r:embed="rId3"/>
          <a:stretch>
            <a:fillRect/>
          </a:stretch>
        </p:blipFill>
        <p:spPr>
          <a:xfrm>
            <a:off x="1261872" y="3959352"/>
            <a:ext cx="402336" cy="402336"/>
          </a:xfrm>
          <a:prstGeom prst="rect">
            <a:avLst/>
          </a:prstGeom>
        </p:spPr>
      </p:pic>
      <p:sp>
        <p:nvSpPr>
          <p:cNvPr id="13" name="Text 8"/>
          <p:cNvSpPr/>
          <p:nvPr/>
        </p:nvSpPr>
        <p:spPr>
          <a:xfrm>
            <a:off x="731520" y="4663440"/>
            <a:ext cx="1463040" cy="320040"/>
          </a:xfrm>
          <a:prstGeom prst="rect">
            <a:avLst/>
          </a:prstGeom>
          <a:noFill/>
          <a:ln/>
        </p:spPr>
        <p:txBody>
          <a:bodyPr wrap="square" rtlCol="0" anchor="ctr"/>
          <a:lstStyle/>
          <a:p>
            <a:pPr algn="ctr" indent="0" marL="0">
              <a:buNone/>
            </a:pPr>
            <a:r>
              <a:rPr lang="en-US" sz="1300" dirty="0">
                <a:solidFill>
                  <a:srgbClr val="7B818C"/>
                </a:solidFill>
                <a:latin typeface="Calibri" pitchFamily="34" charset="0"/>
                <a:ea typeface="Calibri" pitchFamily="34" charset="-122"/>
                <a:cs typeface="Calibri" pitchFamily="34" charset="-120"/>
              </a:rPr>
              <a:t>Amount</a:t>
            </a:r>
            <a:endParaRPr lang="en-US" sz="1300" dirty="0"/>
          </a:p>
        </p:txBody>
      </p:sp>
      <p:sp>
        <p:nvSpPr>
          <p:cNvPr id="14" name="Shape 9"/>
          <p:cNvSpPr/>
          <p:nvPr/>
        </p:nvSpPr>
        <p:spPr>
          <a:xfrm>
            <a:off x="1920240" y="4160520"/>
            <a:ext cx="1600200" cy="-1097280"/>
          </a:xfrm>
          <a:prstGeom prst="line">
            <a:avLst/>
          </a:prstGeom>
          <a:noFill/>
          <a:ln w="12700">
            <a:solidFill>
              <a:srgbClr val="7C5CFC"/>
            </a:solidFill>
            <a:prstDash val="solid"/>
          </a:ln>
        </p:spPr>
      </p:sp>
      <p:sp>
        <p:nvSpPr>
          <p:cNvPr id="15" name="Shape 10"/>
          <p:cNvSpPr/>
          <p:nvPr/>
        </p:nvSpPr>
        <p:spPr>
          <a:xfrm>
            <a:off x="1005840" y="4663440"/>
            <a:ext cx="914400" cy="914400"/>
          </a:xfrm>
          <a:prstGeom prst="ellipse">
            <a:avLst/>
          </a:prstGeom>
          <a:solidFill>
            <a:srgbClr val="F7F8FA"/>
          </a:solidFill>
          <a:ln w="15875">
            <a:solidFill>
              <a:srgbClr val="7B818C"/>
            </a:solidFill>
            <a:prstDash val="solid"/>
          </a:ln>
        </p:spPr>
      </p:sp>
      <p:pic>
        <p:nvPicPr>
          <p:cNvPr id="16" name="Image 3" descr="/home/claude/zero_deck/icons/chk_asset_black.png">    </p:cNvPr>
          <p:cNvPicPr>
            <a:picLocks noChangeAspect="1"/>
          </p:cNvPicPr>
          <p:nvPr/>
        </p:nvPicPr>
        <p:blipFill>
          <a:blip r:embed="rId4"/>
          <a:stretch>
            <a:fillRect/>
          </a:stretch>
        </p:blipFill>
        <p:spPr>
          <a:xfrm>
            <a:off x="1261872" y="4919472"/>
            <a:ext cx="402336" cy="402336"/>
          </a:xfrm>
          <a:prstGeom prst="rect">
            <a:avLst/>
          </a:prstGeom>
        </p:spPr>
      </p:pic>
      <p:sp>
        <p:nvSpPr>
          <p:cNvPr id="17" name="Text 11"/>
          <p:cNvSpPr/>
          <p:nvPr/>
        </p:nvSpPr>
        <p:spPr>
          <a:xfrm>
            <a:off x="731520" y="5623560"/>
            <a:ext cx="1463040" cy="320040"/>
          </a:xfrm>
          <a:prstGeom prst="rect">
            <a:avLst/>
          </a:prstGeom>
          <a:noFill/>
          <a:ln/>
        </p:spPr>
        <p:txBody>
          <a:bodyPr wrap="square" rtlCol="0" anchor="ctr"/>
          <a:lstStyle/>
          <a:p>
            <a:pPr algn="ctr" indent="0" marL="0">
              <a:buNone/>
            </a:pPr>
            <a:r>
              <a:rPr lang="en-US" sz="1300" dirty="0">
                <a:solidFill>
                  <a:srgbClr val="7B818C"/>
                </a:solidFill>
                <a:latin typeface="Calibri" pitchFamily="34" charset="0"/>
                <a:ea typeface="Calibri" pitchFamily="34" charset="-122"/>
                <a:cs typeface="Calibri" pitchFamily="34" charset="-120"/>
              </a:rPr>
              <a:t>Asset</a:t>
            </a:r>
            <a:endParaRPr lang="en-US" sz="1300" dirty="0"/>
          </a:p>
        </p:txBody>
      </p:sp>
      <p:sp>
        <p:nvSpPr>
          <p:cNvPr id="18" name="Shape 12"/>
          <p:cNvSpPr/>
          <p:nvPr/>
        </p:nvSpPr>
        <p:spPr>
          <a:xfrm>
            <a:off x="1920240" y="5120640"/>
            <a:ext cx="1600200" cy="-2057400"/>
          </a:xfrm>
          <a:prstGeom prst="line">
            <a:avLst/>
          </a:prstGeom>
          <a:noFill/>
          <a:ln w="12700">
            <a:solidFill>
              <a:srgbClr val="7C5CFC"/>
            </a:solidFill>
            <a:prstDash val="solid"/>
          </a:ln>
        </p:spPr>
      </p:sp>
      <p:sp>
        <p:nvSpPr>
          <p:cNvPr id="19" name="Shape 13"/>
          <p:cNvSpPr/>
          <p:nvPr/>
        </p:nvSpPr>
        <p:spPr>
          <a:xfrm>
            <a:off x="3520440" y="2377440"/>
            <a:ext cx="1371600" cy="1371600"/>
          </a:xfrm>
          <a:prstGeom prst="ellipse">
            <a:avLst/>
          </a:prstGeom>
          <a:solidFill>
            <a:srgbClr val="0B0D10"/>
          </a:solidFill>
          <a:ln/>
        </p:spPr>
      </p:sp>
      <p:sp>
        <p:nvSpPr>
          <p:cNvPr id="20" name="Text 14"/>
          <p:cNvSpPr/>
          <p:nvPr/>
        </p:nvSpPr>
        <p:spPr>
          <a:xfrm>
            <a:off x="3520440" y="2377440"/>
            <a:ext cx="1371600" cy="1371600"/>
          </a:xfrm>
          <a:prstGeom prst="rect">
            <a:avLst/>
          </a:prstGeom>
          <a:noFill/>
          <a:ln/>
        </p:spPr>
        <p:txBody>
          <a:bodyPr wrap="square" rtlCol="0" anchor="ctr"/>
          <a:lstStyle/>
          <a:p>
            <a:pPr algn="ctr" indent="0" marL="0">
              <a:buNone/>
            </a:pPr>
            <a:r>
              <a:rPr lang="en-US" sz="1500" b="1" dirty="0">
                <a:solidFill>
                  <a:srgbClr val="F7F8FA"/>
                </a:solidFill>
                <a:latin typeface="Calibri" pitchFamily="34" charset="0"/>
                <a:ea typeface="Calibri" pitchFamily="34" charset="-122"/>
                <a:cs typeface="Calibri" pitchFamily="34" charset="-120"/>
              </a:rPr>
              <a:t>Verified</a:t>
            </a:r>
            <a:endParaRPr lang="en-US" sz="1500" dirty="0"/>
          </a:p>
          <a:p>
            <a:pPr algn="ctr" indent="0" marL="0">
              <a:buNone/>
            </a:pPr>
            <a:r>
              <a:rPr lang="en-US" sz="1500" b="1" dirty="0">
                <a:solidFill>
                  <a:srgbClr val="F7F8FA"/>
                </a:solidFill>
                <a:latin typeface="Calibri" pitchFamily="34" charset="0"/>
                <a:ea typeface="Calibri" pitchFamily="34" charset="-122"/>
                <a:cs typeface="Calibri" pitchFamily="34" charset="-120"/>
              </a:rPr>
              <a:t>&amp; paid</a:t>
            </a:r>
            <a:endParaRPr lang="en-US" sz="1500" dirty="0"/>
          </a:p>
        </p:txBody>
      </p:sp>
      <p:sp>
        <p:nvSpPr>
          <p:cNvPr id="21" name="Shape 15"/>
          <p:cNvSpPr/>
          <p:nvPr/>
        </p:nvSpPr>
        <p:spPr>
          <a:xfrm>
            <a:off x="6995160" y="1901952"/>
            <a:ext cx="82296" cy="82296"/>
          </a:xfrm>
          <a:prstGeom prst="ellipse">
            <a:avLst/>
          </a:prstGeom>
          <a:solidFill>
            <a:srgbClr val="7C5CFC"/>
          </a:solidFill>
          <a:ln/>
        </p:spPr>
      </p:sp>
      <p:sp>
        <p:nvSpPr>
          <p:cNvPr id="22" name="Text 16"/>
          <p:cNvSpPr/>
          <p:nvPr/>
        </p:nvSpPr>
        <p:spPr>
          <a:xfrm>
            <a:off x="7269480" y="1783080"/>
            <a:ext cx="4206240" cy="777240"/>
          </a:xfrm>
          <a:prstGeom prst="rect">
            <a:avLst/>
          </a:prstGeom>
          <a:noFill/>
          <a:ln/>
        </p:spPr>
        <p:txBody>
          <a:bodyPr wrap="square" rtlCol="0" anchor="t"/>
          <a:lstStyle/>
          <a:p>
            <a:pPr indent="0" marL="0">
              <a:buNone/>
            </a:pPr>
            <a:r>
              <a:rPr lang="en-US" sz="1550" dirty="0">
                <a:solidFill>
                  <a:srgbClr val="0B0D10"/>
                </a:solidFill>
                <a:latin typeface="Calibri" pitchFamily="34" charset="0"/>
                <a:ea typeface="Calibri" pitchFamily="34" charset="-122"/>
                <a:cs typeface="Calibri" pitchFamily="34" charset="-120"/>
              </a:rPr>
              <a:t>Merchants can't mark a request paid — only matched on-chain data can</a:t>
            </a:r>
            <a:endParaRPr lang="en-US" sz="1550" dirty="0"/>
          </a:p>
        </p:txBody>
      </p:sp>
      <p:sp>
        <p:nvSpPr>
          <p:cNvPr id="23" name="Shape 17"/>
          <p:cNvSpPr/>
          <p:nvPr/>
        </p:nvSpPr>
        <p:spPr>
          <a:xfrm>
            <a:off x="6995160" y="2862072"/>
            <a:ext cx="82296" cy="82296"/>
          </a:xfrm>
          <a:prstGeom prst="ellipse">
            <a:avLst/>
          </a:prstGeom>
          <a:solidFill>
            <a:srgbClr val="7C5CFC"/>
          </a:solidFill>
          <a:ln/>
        </p:spPr>
      </p:sp>
      <p:sp>
        <p:nvSpPr>
          <p:cNvPr id="24" name="Text 18"/>
          <p:cNvSpPr/>
          <p:nvPr/>
        </p:nvSpPr>
        <p:spPr>
          <a:xfrm>
            <a:off x="7269480" y="2743200"/>
            <a:ext cx="4206240" cy="777240"/>
          </a:xfrm>
          <a:prstGeom prst="rect">
            <a:avLst/>
          </a:prstGeom>
          <a:noFill/>
          <a:ln/>
        </p:spPr>
        <p:txBody>
          <a:bodyPr wrap="square" rtlCol="0" anchor="t"/>
          <a:lstStyle/>
          <a:p>
            <a:pPr indent="0" marL="0">
              <a:buNone/>
            </a:pPr>
            <a:r>
              <a:rPr lang="en-US" sz="1550" dirty="0">
                <a:solidFill>
                  <a:srgbClr val="0B0D10"/>
                </a:solidFill>
                <a:latin typeface="Calibri" pitchFamily="34" charset="0"/>
                <a:ea typeface="Calibri" pitchFamily="34" charset="-122"/>
                <a:cs typeface="Calibri" pitchFamily="34" charset="-120"/>
              </a:rPr>
              <a:t>Settlement and recording happen atomically, guarded by Row-Level Security</a:t>
            </a:r>
            <a:endParaRPr lang="en-US" sz="1550" dirty="0"/>
          </a:p>
        </p:txBody>
      </p:sp>
      <p:sp>
        <p:nvSpPr>
          <p:cNvPr id="25" name="Shape 19"/>
          <p:cNvSpPr/>
          <p:nvPr/>
        </p:nvSpPr>
        <p:spPr>
          <a:xfrm>
            <a:off x="6995160" y="3822192"/>
            <a:ext cx="82296" cy="82296"/>
          </a:xfrm>
          <a:prstGeom prst="ellipse">
            <a:avLst/>
          </a:prstGeom>
          <a:solidFill>
            <a:srgbClr val="7C5CFC"/>
          </a:solidFill>
          <a:ln/>
        </p:spPr>
      </p:sp>
      <p:sp>
        <p:nvSpPr>
          <p:cNvPr id="26" name="Text 20"/>
          <p:cNvSpPr/>
          <p:nvPr/>
        </p:nvSpPr>
        <p:spPr>
          <a:xfrm>
            <a:off x="7269480" y="3703320"/>
            <a:ext cx="4206240" cy="777240"/>
          </a:xfrm>
          <a:prstGeom prst="rect">
            <a:avLst/>
          </a:prstGeom>
          <a:noFill/>
          <a:ln/>
        </p:spPr>
        <p:txBody>
          <a:bodyPr wrap="square" rtlCol="0" anchor="t"/>
          <a:lstStyle/>
          <a:p>
            <a:pPr indent="0" marL="0">
              <a:buNone/>
            </a:pPr>
            <a:r>
              <a:rPr lang="en-US" sz="1550" dirty="0">
                <a:solidFill>
                  <a:srgbClr val="0B0D10"/>
                </a:solidFill>
                <a:latin typeface="Calibri" pitchFamily="34" charset="0"/>
                <a:ea typeface="Calibri" pitchFamily="34" charset="-122"/>
                <a:cs typeface="Calibri" pitchFamily="34" charset="-120"/>
              </a:rPr>
              <a:t>The customer's private key never leaves their wallet</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85800" y="502920"/>
            <a:ext cx="10817352" cy="914400"/>
          </a:xfrm>
          <a:prstGeom prst="rect">
            <a:avLst/>
          </a:prstGeom>
          <a:noFill/>
          <a:ln/>
        </p:spPr>
        <p:txBody>
          <a:bodyPr wrap="square" rtlCol="0" anchor="ctr"/>
          <a:lstStyle/>
          <a:p>
            <a:pPr indent="0" marL="0">
              <a:buNone/>
            </a:pPr>
            <a:r>
              <a:rPr lang="en-US" sz="3000" b="1" dirty="0">
                <a:solidFill>
                  <a:srgbClr val="0B0D10"/>
                </a:solidFill>
                <a:latin typeface="Arial" pitchFamily="34" charset="0"/>
                <a:ea typeface="Arial" pitchFamily="34" charset="-122"/>
                <a:cs typeface="Arial" pitchFamily="34" charset="-120"/>
              </a:rPr>
              <a:t>The merchant sees confirmation instead of chasing screenshots</a:t>
            </a:r>
            <a:endParaRPr lang="en-US" sz="3000" dirty="0"/>
          </a:p>
        </p:txBody>
      </p:sp>
      <p:sp>
        <p:nvSpPr>
          <p:cNvPr id="3" name="Shape 1"/>
          <p:cNvSpPr/>
          <p:nvPr/>
        </p:nvSpPr>
        <p:spPr>
          <a:xfrm>
            <a:off x="685800" y="1600200"/>
            <a:ext cx="6492240" cy="4206240"/>
          </a:xfrm>
          <a:prstGeom prst="roundRect">
            <a:avLst>
              <a:gd name="adj" fmla="val 1304"/>
            </a:avLst>
          </a:prstGeom>
          <a:solidFill>
            <a:srgbClr val="EFEFF2"/>
          </a:solidFill>
          <a:ln w="12700">
            <a:solidFill>
              <a:srgbClr val="7B818C"/>
            </a:solidFill>
            <a:prstDash val="dash"/>
          </a:ln>
        </p:spPr>
      </p:sp>
      <p:sp>
        <p:nvSpPr>
          <p:cNvPr id="4" name="Text 2"/>
          <p:cNvSpPr/>
          <p:nvPr/>
        </p:nvSpPr>
        <p:spPr>
          <a:xfrm>
            <a:off x="1051560" y="3520440"/>
            <a:ext cx="5760720" cy="457200"/>
          </a:xfrm>
          <a:prstGeom prst="rect">
            <a:avLst/>
          </a:prstGeom>
          <a:noFill/>
          <a:ln/>
        </p:spPr>
        <p:txBody>
          <a:bodyPr wrap="square" rtlCol="0" anchor="ctr"/>
          <a:lstStyle/>
          <a:p>
            <a:pPr algn="ctr" indent="0" marL="0">
              <a:buNone/>
            </a:pPr>
            <a:r>
              <a:rPr lang="en-US" sz="1600" i="1" dirty="0">
                <a:solidFill>
                  <a:srgbClr val="7B818C"/>
                </a:solidFill>
                <a:latin typeface="Calibri" pitchFamily="34" charset="0"/>
                <a:ea typeface="Calibri" pitchFamily="34" charset="-122"/>
                <a:cs typeface="Calibri" pitchFamily="34" charset="-120"/>
              </a:rPr>
              <a:t>Insert merchant dashboard screenshot</a:t>
            </a:r>
            <a:endParaRPr lang="en-US" sz="1600" dirty="0"/>
          </a:p>
        </p:txBody>
      </p:sp>
      <p:sp>
        <p:nvSpPr>
          <p:cNvPr id="5" name="Shape 3"/>
          <p:cNvSpPr/>
          <p:nvPr/>
        </p:nvSpPr>
        <p:spPr>
          <a:xfrm>
            <a:off x="7452360" y="1600200"/>
            <a:ext cx="4069080" cy="2011680"/>
          </a:xfrm>
          <a:prstGeom prst="roundRect">
            <a:avLst>
              <a:gd name="adj" fmla="val 2727"/>
            </a:avLst>
          </a:prstGeom>
          <a:solidFill>
            <a:srgbClr val="EFEFF2"/>
          </a:solidFill>
          <a:ln w="12700">
            <a:solidFill>
              <a:srgbClr val="7B818C"/>
            </a:solidFill>
            <a:prstDash val="dash"/>
          </a:ln>
        </p:spPr>
      </p:sp>
      <p:sp>
        <p:nvSpPr>
          <p:cNvPr id="6" name="Text 4"/>
          <p:cNvSpPr/>
          <p:nvPr/>
        </p:nvSpPr>
        <p:spPr>
          <a:xfrm>
            <a:off x="7635240" y="2423160"/>
            <a:ext cx="3703320" cy="457200"/>
          </a:xfrm>
          <a:prstGeom prst="rect">
            <a:avLst/>
          </a:prstGeom>
          <a:noFill/>
          <a:ln/>
        </p:spPr>
        <p:txBody>
          <a:bodyPr wrap="square" rtlCol="0" anchor="ctr"/>
          <a:lstStyle/>
          <a:p>
            <a:pPr algn="ctr" indent="0" marL="0">
              <a:buNone/>
            </a:pPr>
            <a:r>
              <a:rPr lang="en-US" sz="1400" i="1" dirty="0">
                <a:solidFill>
                  <a:srgbClr val="7B818C"/>
                </a:solidFill>
                <a:latin typeface="Calibri" pitchFamily="34" charset="0"/>
                <a:ea typeface="Calibri" pitchFamily="34" charset="-122"/>
                <a:cs typeface="Calibri" pitchFamily="34" charset="-120"/>
              </a:rPr>
              <a:t>Insert customer payment page screenshot</a:t>
            </a:r>
            <a:endParaRPr lang="en-US" sz="1400" dirty="0"/>
          </a:p>
        </p:txBody>
      </p:sp>
      <p:sp>
        <p:nvSpPr>
          <p:cNvPr id="7" name="Shape 5"/>
          <p:cNvSpPr/>
          <p:nvPr/>
        </p:nvSpPr>
        <p:spPr>
          <a:xfrm>
            <a:off x="7452360" y="3794760"/>
            <a:ext cx="4069080" cy="2011680"/>
          </a:xfrm>
          <a:prstGeom prst="roundRect">
            <a:avLst>
              <a:gd name="adj" fmla="val 2727"/>
            </a:avLst>
          </a:prstGeom>
          <a:solidFill>
            <a:srgbClr val="EFEFF2"/>
          </a:solidFill>
          <a:ln w="12700">
            <a:solidFill>
              <a:srgbClr val="7B818C"/>
            </a:solidFill>
            <a:prstDash val="dash"/>
          </a:ln>
        </p:spPr>
      </p:sp>
      <p:sp>
        <p:nvSpPr>
          <p:cNvPr id="8" name="Text 6"/>
          <p:cNvSpPr/>
          <p:nvPr/>
        </p:nvSpPr>
        <p:spPr>
          <a:xfrm>
            <a:off x="7635240" y="4617720"/>
            <a:ext cx="3703320" cy="457200"/>
          </a:xfrm>
          <a:prstGeom prst="rect">
            <a:avLst/>
          </a:prstGeom>
          <a:noFill/>
          <a:ln/>
        </p:spPr>
        <p:txBody>
          <a:bodyPr wrap="square" rtlCol="0" anchor="ctr"/>
          <a:lstStyle/>
          <a:p>
            <a:pPr algn="ctr" indent="0" marL="0">
              <a:buNone/>
            </a:pPr>
            <a:r>
              <a:rPr lang="en-US" sz="1400" i="1" dirty="0">
                <a:solidFill>
                  <a:srgbClr val="7B818C"/>
                </a:solidFill>
                <a:latin typeface="Calibri" pitchFamily="34" charset="0"/>
                <a:ea typeface="Calibri" pitchFamily="34" charset="-122"/>
                <a:cs typeface="Calibri" pitchFamily="34" charset="-120"/>
              </a:rPr>
              <a:t>Insert verified paid-state screenshot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85800" y="502920"/>
            <a:ext cx="10817352" cy="914400"/>
          </a:xfrm>
          <a:prstGeom prst="rect">
            <a:avLst/>
          </a:prstGeom>
          <a:noFill/>
          <a:ln/>
        </p:spPr>
        <p:txBody>
          <a:bodyPr wrap="square" rtlCol="0" anchor="ctr"/>
          <a:lstStyle/>
          <a:p>
            <a:pPr indent="0" marL="0">
              <a:buNone/>
            </a:pPr>
            <a:r>
              <a:rPr lang="en-US" sz="3000" b="1" dirty="0">
                <a:solidFill>
                  <a:srgbClr val="0B0D10"/>
                </a:solidFill>
                <a:latin typeface="Arial" pitchFamily="34" charset="0"/>
                <a:ea typeface="Arial" pitchFamily="34" charset="-122"/>
                <a:cs typeface="Arial" pitchFamily="34" charset="-120"/>
              </a:rPr>
              <a:t>The first users already sell through links, chats, and QR codes</a:t>
            </a:r>
            <a:endParaRPr lang="en-US" sz="3000" dirty="0"/>
          </a:p>
        </p:txBody>
      </p:sp>
      <p:sp>
        <p:nvSpPr>
          <p:cNvPr id="3" name="Shape 1"/>
          <p:cNvSpPr/>
          <p:nvPr/>
        </p:nvSpPr>
        <p:spPr>
          <a:xfrm>
            <a:off x="685800" y="1783080"/>
            <a:ext cx="685800" cy="685800"/>
          </a:xfrm>
          <a:prstGeom prst="ellipse">
            <a:avLst/>
          </a:prstGeom>
          <a:solidFill>
            <a:srgbClr val="0B0D10"/>
          </a:solidFill>
          <a:ln/>
        </p:spPr>
      </p:sp>
      <p:pic>
        <p:nvPicPr>
          <p:cNvPr id="4" name="Image 0" descr="/home/claude/zero_deck/icons/aud_msme_violet.png">    </p:cNvPr>
          <p:cNvPicPr>
            <a:picLocks noChangeAspect="1"/>
          </p:cNvPicPr>
          <p:nvPr/>
        </p:nvPicPr>
        <p:blipFill>
          <a:blip r:embed="rId1"/>
          <a:stretch>
            <a:fillRect/>
          </a:stretch>
        </p:blipFill>
        <p:spPr>
          <a:xfrm>
            <a:off x="841248" y="1938528"/>
            <a:ext cx="374904" cy="374904"/>
          </a:xfrm>
          <a:prstGeom prst="rect">
            <a:avLst/>
          </a:prstGeom>
        </p:spPr>
      </p:pic>
      <p:sp>
        <p:nvSpPr>
          <p:cNvPr id="5" name="Text 2"/>
          <p:cNvSpPr/>
          <p:nvPr/>
        </p:nvSpPr>
        <p:spPr>
          <a:xfrm>
            <a:off x="1554480" y="1737360"/>
            <a:ext cx="4311396" cy="365760"/>
          </a:xfrm>
          <a:prstGeom prst="rect">
            <a:avLst/>
          </a:prstGeom>
          <a:noFill/>
          <a:ln/>
        </p:spPr>
        <p:txBody>
          <a:bodyPr wrap="square" rtlCol="0" anchor="ctr"/>
          <a:lstStyle/>
          <a:p>
            <a:pPr indent="0" marL="0">
              <a:buNone/>
            </a:pPr>
            <a:r>
              <a:rPr lang="en-US" sz="1800" b="1" dirty="0">
                <a:solidFill>
                  <a:srgbClr val="0B0D10"/>
                </a:solidFill>
                <a:latin typeface="Calibri" pitchFamily="34" charset="0"/>
                <a:ea typeface="Calibri" pitchFamily="34" charset="-122"/>
                <a:cs typeface="Calibri" pitchFamily="34" charset="-120"/>
              </a:rPr>
              <a:t>MSMEs</a:t>
            </a:r>
            <a:endParaRPr lang="en-US" sz="1800" dirty="0"/>
          </a:p>
        </p:txBody>
      </p:sp>
      <p:sp>
        <p:nvSpPr>
          <p:cNvPr id="6" name="Text 3"/>
          <p:cNvSpPr/>
          <p:nvPr/>
        </p:nvSpPr>
        <p:spPr>
          <a:xfrm>
            <a:off x="1554480" y="2130552"/>
            <a:ext cx="4311396" cy="731520"/>
          </a:xfrm>
          <a:prstGeom prst="rect">
            <a:avLst/>
          </a:prstGeom>
          <a:noFill/>
          <a:ln/>
        </p:spPr>
        <p:txBody>
          <a:bodyPr wrap="square" rtlCol="0" anchor="t"/>
          <a:lstStyle/>
          <a:p>
            <a:pPr indent="0" marL="0">
              <a:buNone/>
            </a:pPr>
            <a:r>
              <a:rPr lang="en-US" sz="1500" dirty="0">
                <a:solidFill>
                  <a:srgbClr val="7B818C"/>
                </a:solidFill>
                <a:latin typeface="Calibri" pitchFamily="34" charset="0"/>
                <a:ea typeface="Calibri" pitchFamily="34" charset="-122"/>
                <a:cs typeface="Calibri" pitchFamily="34" charset="-120"/>
              </a:rPr>
              <a:t>Simple payment links replace manual invoicing</a:t>
            </a:r>
            <a:endParaRPr lang="en-US" sz="1500" dirty="0"/>
          </a:p>
        </p:txBody>
      </p:sp>
      <p:sp>
        <p:nvSpPr>
          <p:cNvPr id="7" name="Shape 4"/>
          <p:cNvSpPr/>
          <p:nvPr/>
        </p:nvSpPr>
        <p:spPr>
          <a:xfrm>
            <a:off x="6323076" y="1783080"/>
            <a:ext cx="685800" cy="685800"/>
          </a:xfrm>
          <a:prstGeom prst="ellipse">
            <a:avLst/>
          </a:prstGeom>
          <a:solidFill>
            <a:srgbClr val="0B0D10"/>
          </a:solidFill>
          <a:ln/>
        </p:spPr>
      </p:sp>
      <p:pic>
        <p:nvPicPr>
          <p:cNvPr id="8" name="Image 1" descr="/home/claude/zero_deck/icons/aud_social_violet.png">    </p:cNvPr>
          <p:cNvPicPr>
            <a:picLocks noChangeAspect="1"/>
          </p:cNvPicPr>
          <p:nvPr/>
        </p:nvPicPr>
        <p:blipFill>
          <a:blip r:embed="rId2"/>
          <a:stretch>
            <a:fillRect/>
          </a:stretch>
        </p:blipFill>
        <p:spPr>
          <a:xfrm>
            <a:off x="6478524" y="1938528"/>
            <a:ext cx="374904" cy="374904"/>
          </a:xfrm>
          <a:prstGeom prst="rect">
            <a:avLst/>
          </a:prstGeom>
        </p:spPr>
      </p:pic>
      <p:sp>
        <p:nvSpPr>
          <p:cNvPr id="9" name="Text 5"/>
          <p:cNvSpPr/>
          <p:nvPr/>
        </p:nvSpPr>
        <p:spPr>
          <a:xfrm>
            <a:off x="7191756" y="1737360"/>
            <a:ext cx="4311396" cy="365760"/>
          </a:xfrm>
          <a:prstGeom prst="rect">
            <a:avLst/>
          </a:prstGeom>
          <a:noFill/>
          <a:ln/>
        </p:spPr>
        <p:txBody>
          <a:bodyPr wrap="square" rtlCol="0" anchor="ctr"/>
          <a:lstStyle/>
          <a:p>
            <a:pPr indent="0" marL="0">
              <a:buNone/>
            </a:pPr>
            <a:r>
              <a:rPr lang="en-US" sz="1800" b="1" dirty="0">
                <a:solidFill>
                  <a:srgbClr val="0B0D10"/>
                </a:solidFill>
                <a:latin typeface="Calibri" pitchFamily="34" charset="0"/>
                <a:ea typeface="Calibri" pitchFamily="34" charset="-122"/>
                <a:cs typeface="Calibri" pitchFamily="34" charset="-120"/>
              </a:rPr>
              <a:t>Social sellers</a:t>
            </a:r>
            <a:endParaRPr lang="en-US" sz="1800" dirty="0"/>
          </a:p>
        </p:txBody>
      </p:sp>
      <p:sp>
        <p:nvSpPr>
          <p:cNvPr id="10" name="Text 6"/>
          <p:cNvSpPr/>
          <p:nvPr/>
        </p:nvSpPr>
        <p:spPr>
          <a:xfrm>
            <a:off x="7191756" y="2130552"/>
            <a:ext cx="4311396" cy="731520"/>
          </a:xfrm>
          <a:prstGeom prst="rect">
            <a:avLst/>
          </a:prstGeom>
          <a:noFill/>
          <a:ln/>
        </p:spPr>
        <p:txBody>
          <a:bodyPr wrap="square" rtlCol="0" anchor="t"/>
          <a:lstStyle/>
          <a:p>
            <a:pPr indent="0" marL="0">
              <a:buNone/>
            </a:pPr>
            <a:r>
              <a:rPr lang="en-US" sz="1500" dirty="0">
                <a:solidFill>
                  <a:srgbClr val="7B818C"/>
                </a:solidFill>
                <a:latin typeface="Calibri" pitchFamily="34" charset="0"/>
                <a:ea typeface="Calibri" pitchFamily="34" charset="-122"/>
                <a:cs typeface="Calibri" pitchFamily="34" charset="-120"/>
              </a:rPr>
              <a:t>QR-based checkout fits chat and social selling</a:t>
            </a:r>
            <a:endParaRPr lang="en-US" sz="1500" dirty="0"/>
          </a:p>
        </p:txBody>
      </p:sp>
      <p:sp>
        <p:nvSpPr>
          <p:cNvPr id="11" name="Shape 7"/>
          <p:cNvSpPr/>
          <p:nvPr/>
        </p:nvSpPr>
        <p:spPr>
          <a:xfrm>
            <a:off x="685800" y="4160520"/>
            <a:ext cx="685800" cy="685800"/>
          </a:xfrm>
          <a:prstGeom prst="ellipse">
            <a:avLst/>
          </a:prstGeom>
          <a:solidFill>
            <a:srgbClr val="0B0D10"/>
          </a:solidFill>
          <a:ln/>
        </p:spPr>
      </p:sp>
      <p:pic>
        <p:nvPicPr>
          <p:cNvPr id="12" name="Image 2" descr="/home/claude/zero_deck/icons/aud_local_violet.png">    </p:cNvPr>
          <p:cNvPicPr>
            <a:picLocks noChangeAspect="1"/>
          </p:cNvPicPr>
          <p:nvPr/>
        </p:nvPicPr>
        <p:blipFill>
          <a:blip r:embed="rId3"/>
          <a:stretch>
            <a:fillRect/>
          </a:stretch>
        </p:blipFill>
        <p:spPr>
          <a:xfrm>
            <a:off x="841248" y="4315968"/>
            <a:ext cx="374904" cy="374904"/>
          </a:xfrm>
          <a:prstGeom prst="rect">
            <a:avLst/>
          </a:prstGeom>
        </p:spPr>
      </p:pic>
      <p:sp>
        <p:nvSpPr>
          <p:cNvPr id="13" name="Text 8"/>
          <p:cNvSpPr/>
          <p:nvPr/>
        </p:nvSpPr>
        <p:spPr>
          <a:xfrm>
            <a:off x="1554480" y="4114800"/>
            <a:ext cx="4311396" cy="365760"/>
          </a:xfrm>
          <a:prstGeom prst="rect">
            <a:avLst/>
          </a:prstGeom>
          <a:noFill/>
          <a:ln/>
        </p:spPr>
        <p:txBody>
          <a:bodyPr wrap="square" rtlCol="0" anchor="ctr"/>
          <a:lstStyle/>
          <a:p>
            <a:pPr indent="0" marL="0">
              <a:buNone/>
            </a:pPr>
            <a:r>
              <a:rPr lang="en-US" sz="1800" b="1" dirty="0">
                <a:solidFill>
                  <a:srgbClr val="0B0D10"/>
                </a:solidFill>
                <a:latin typeface="Calibri" pitchFamily="34" charset="0"/>
                <a:ea typeface="Calibri" pitchFamily="34" charset="-122"/>
                <a:cs typeface="Calibri" pitchFamily="34" charset="-120"/>
              </a:rPr>
              <a:t>Local merchants</a:t>
            </a:r>
            <a:endParaRPr lang="en-US" sz="1800" dirty="0"/>
          </a:p>
        </p:txBody>
      </p:sp>
      <p:sp>
        <p:nvSpPr>
          <p:cNvPr id="14" name="Text 9"/>
          <p:cNvSpPr/>
          <p:nvPr/>
        </p:nvSpPr>
        <p:spPr>
          <a:xfrm>
            <a:off x="1554480" y="4507992"/>
            <a:ext cx="4311396" cy="731520"/>
          </a:xfrm>
          <a:prstGeom prst="rect">
            <a:avLst/>
          </a:prstGeom>
          <a:noFill/>
          <a:ln/>
        </p:spPr>
        <p:txBody>
          <a:bodyPr wrap="square" rtlCol="0" anchor="t"/>
          <a:lstStyle/>
          <a:p>
            <a:pPr indent="0" marL="0">
              <a:buNone/>
            </a:pPr>
            <a:r>
              <a:rPr lang="en-US" sz="1500" dirty="0">
                <a:solidFill>
                  <a:srgbClr val="7B818C"/>
                </a:solidFill>
                <a:latin typeface="Calibri" pitchFamily="34" charset="0"/>
                <a:ea typeface="Calibri" pitchFamily="34" charset="-122"/>
                <a:cs typeface="Calibri" pitchFamily="34" charset="-120"/>
              </a:rPr>
              <a:t>Faster confirmation, less manual admin</a:t>
            </a:r>
            <a:endParaRPr lang="en-US" sz="1500" dirty="0"/>
          </a:p>
        </p:txBody>
      </p:sp>
      <p:sp>
        <p:nvSpPr>
          <p:cNvPr id="15" name="Shape 10"/>
          <p:cNvSpPr/>
          <p:nvPr/>
        </p:nvSpPr>
        <p:spPr>
          <a:xfrm>
            <a:off x="6323076" y="4160520"/>
            <a:ext cx="685800" cy="685800"/>
          </a:xfrm>
          <a:prstGeom prst="ellipse">
            <a:avLst/>
          </a:prstGeom>
          <a:solidFill>
            <a:srgbClr val="0B0D10"/>
          </a:solidFill>
          <a:ln/>
        </p:spPr>
      </p:sp>
      <p:pic>
        <p:nvPicPr>
          <p:cNvPr id="16" name="Image 3" descr="/home/claude/zero_deck/icons/aud_customer_violet.png">    </p:cNvPr>
          <p:cNvPicPr>
            <a:picLocks noChangeAspect="1"/>
          </p:cNvPicPr>
          <p:nvPr/>
        </p:nvPicPr>
        <p:blipFill>
          <a:blip r:embed="rId4"/>
          <a:stretch>
            <a:fillRect/>
          </a:stretch>
        </p:blipFill>
        <p:spPr>
          <a:xfrm>
            <a:off x="6478524" y="4315968"/>
            <a:ext cx="374904" cy="374904"/>
          </a:xfrm>
          <a:prstGeom prst="rect">
            <a:avLst/>
          </a:prstGeom>
        </p:spPr>
      </p:pic>
      <p:sp>
        <p:nvSpPr>
          <p:cNvPr id="17" name="Text 11"/>
          <p:cNvSpPr/>
          <p:nvPr/>
        </p:nvSpPr>
        <p:spPr>
          <a:xfrm>
            <a:off x="7191756" y="4114800"/>
            <a:ext cx="4311396" cy="365760"/>
          </a:xfrm>
          <a:prstGeom prst="rect">
            <a:avLst/>
          </a:prstGeom>
          <a:noFill/>
          <a:ln/>
        </p:spPr>
        <p:txBody>
          <a:bodyPr wrap="square" rtlCol="0" anchor="ctr"/>
          <a:lstStyle/>
          <a:p>
            <a:pPr indent="0" marL="0">
              <a:buNone/>
            </a:pPr>
            <a:r>
              <a:rPr lang="en-US" sz="1800" b="1" dirty="0">
                <a:solidFill>
                  <a:srgbClr val="0B0D10"/>
                </a:solidFill>
                <a:latin typeface="Calibri" pitchFamily="34" charset="0"/>
                <a:ea typeface="Calibri" pitchFamily="34" charset="-122"/>
                <a:cs typeface="Calibri" pitchFamily="34" charset="-120"/>
              </a:rPr>
              <a:t>Privacy-minded customers</a:t>
            </a:r>
            <a:endParaRPr lang="en-US" sz="1800" dirty="0"/>
          </a:p>
        </p:txBody>
      </p:sp>
      <p:sp>
        <p:nvSpPr>
          <p:cNvPr id="18" name="Text 12"/>
          <p:cNvSpPr/>
          <p:nvPr/>
        </p:nvSpPr>
        <p:spPr>
          <a:xfrm>
            <a:off x="7191756" y="4507992"/>
            <a:ext cx="4311396" cy="731520"/>
          </a:xfrm>
          <a:prstGeom prst="rect">
            <a:avLst/>
          </a:prstGeom>
          <a:noFill/>
          <a:ln/>
        </p:spPr>
        <p:txBody>
          <a:bodyPr wrap="square" rtlCol="0" anchor="t"/>
          <a:lstStyle/>
          <a:p>
            <a:pPr indent="0" marL="0">
              <a:buNone/>
            </a:pPr>
            <a:r>
              <a:rPr lang="en-US" sz="1500" dirty="0">
                <a:solidFill>
                  <a:srgbClr val="7B818C"/>
                </a:solidFill>
                <a:latin typeface="Calibri" pitchFamily="34" charset="0"/>
                <a:ea typeface="Calibri" pitchFamily="34" charset="-122"/>
                <a:cs typeface="Calibri" pitchFamily="34" charset="-120"/>
              </a:rPr>
              <a:t>No reusable payment secrets stored by the merchant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85800" y="457200"/>
            <a:ext cx="10817352" cy="822960"/>
          </a:xfrm>
          <a:prstGeom prst="rect">
            <a:avLst/>
          </a:prstGeom>
          <a:noFill/>
          <a:ln/>
        </p:spPr>
        <p:txBody>
          <a:bodyPr wrap="square" rtlCol="0" anchor="ctr"/>
          <a:lstStyle/>
          <a:p>
            <a:pPr indent="0" marL="0">
              <a:buNone/>
            </a:pPr>
            <a:r>
              <a:rPr lang="en-US" sz="2800" b="1" dirty="0">
                <a:solidFill>
                  <a:srgbClr val="F7F8FA"/>
                </a:solidFill>
                <a:latin typeface="Arial" pitchFamily="34" charset="0"/>
                <a:ea typeface="Arial" pitchFamily="34" charset="-122"/>
                <a:cs typeface="Arial" pitchFamily="34" charset="-120"/>
              </a:rPr>
              <a:t>The core loop comes first, then broader payment infrastructure</a:t>
            </a:r>
            <a:endParaRPr lang="en-US" sz="2800" dirty="0"/>
          </a:p>
        </p:txBody>
      </p:sp>
      <p:sp>
        <p:nvSpPr>
          <p:cNvPr id="3" name="Text 1"/>
          <p:cNvSpPr/>
          <p:nvPr/>
        </p:nvSpPr>
        <p:spPr>
          <a:xfrm>
            <a:off x="685800" y="1417320"/>
            <a:ext cx="5134356" cy="365760"/>
          </a:xfrm>
          <a:prstGeom prst="rect">
            <a:avLst/>
          </a:prstGeom>
          <a:noFill/>
          <a:ln/>
        </p:spPr>
        <p:txBody>
          <a:bodyPr wrap="square" rtlCol="0" anchor="ctr"/>
          <a:lstStyle/>
          <a:p>
            <a:pPr indent="0" marL="0">
              <a:buNone/>
            </a:pPr>
            <a:r>
              <a:rPr lang="en-US" sz="1500" b="1" dirty="0">
                <a:solidFill>
                  <a:srgbClr val="7C5CFC"/>
                </a:solidFill>
                <a:latin typeface="Calibri" pitchFamily="34" charset="0"/>
                <a:ea typeface="Calibri" pitchFamily="34" charset="-122"/>
                <a:cs typeface="Calibri" pitchFamily="34" charset="-120"/>
              </a:rPr>
              <a:t>CURRENT MVP</a:t>
            </a:r>
            <a:endParaRPr lang="en-US" sz="1500" dirty="0"/>
          </a:p>
        </p:txBody>
      </p:sp>
      <p:sp>
        <p:nvSpPr>
          <p:cNvPr id="4" name="Shape 2"/>
          <p:cNvSpPr/>
          <p:nvPr/>
        </p:nvSpPr>
        <p:spPr>
          <a:xfrm>
            <a:off x="685800" y="2020824"/>
            <a:ext cx="82296" cy="82296"/>
          </a:xfrm>
          <a:prstGeom prst="ellipse">
            <a:avLst/>
          </a:prstGeom>
          <a:solidFill>
            <a:srgbClr val="7C5CFC"/>
          </a:solidFill>
          <a:ln/>
        </p:spPr>
      </p:sp>
      <p:sp>
        <p:nvSpPr>
          <p:cNvPr id="5" name="Text 3"/>
          <p:cNvSpPr/>
          <p:nvPr/>
        </p:nvSpPr>
        <p:spPr>
          <a:xfrm>
            <a:off x="960120" y="1920240"/>
            <a:ext cx="4860036" cy="594360"/>
          </a:xfrm>
          <a:prstGeom prst="rect">
            <a:avLst/>
          </a:prstGeom>
          <a:noFill/>
          <a:ln/>
        </p:spPr>
        <p:txBody>
          <a:bodyPr wrap="square" rtlCol="0" anchor="t"/>
          <a:lstStyle/>
          <a:p>
            <a:pPr indent="0" marL="0">
              <a:buNone/>
            </a:pPr>
            <a:r>
              <a:rPr lang="en-US" sz="1450" dirty="0">
                <a:solidFill>
                  <a:srgbClr val="F7F8FA"/>
                </a:solidFill>
                <a:latin typeface="Calibri" pitchFamily="34" charset="0"/>
                <a:ea typeface="Calibri" pitchFamily="34" charset="-122"/>
                <a:cs typeface="Calibri" pitchFamily="34" charset="-120"/>
              </a:rPr>
              <a:t>Merchant registration and onboarding</a:t>
            </a:r>
            <a:endParaRPr lang="en-US" sz="1450" dirty="0"/>
          </a:p>
        </p:txBody>
      </p:sp>
      <p:sp>
        <p:nvSpPr>
          <p:cNvPr id="6" name="Shape 4"/>
          <p:cNvSpPr/>
          <p:nvPr/>
        </p:nvSpPr>
        <p:spPr>
          <a:xfrm>
            <a:off x="685800" y="2642616"/>
            <a:ext cx="82296" cy="82296"/>
          </a:xfrm>
          <a:prstGeom prst="ellipse">
            <a:avLst/>
          </a:prstGeom>
          <a:solidFill>
            <a:srgbClr val="7C5CFC"/>
          </a:solidFill>
          <a:ln/>
        </p:spPr>
      </p:sp>
      <p:sp>
        <p:nvSpPr>
          <p:cNvPr id="7" name="Text 5"/>
          <p:cNvSpPr/>
          <p:nvPr/>
        </p:nvSpPr>
        <p:spPr>
          <a:xfrm>
            <a:off x="960120" y="2542032"/>
            <a:ext cx="4860036" cy="594360"/>
          </a:xfrm>
          <a:prstGeom prst="rect">
            <a:avLst/>
          </a:prstGeom>
          <a:noFill/>
          <a:ln/>
        </p:spPr>
        <p:txBody>
          <a:bodyPr wrap="square" rtlCol="0" anchor="t"/>
          <a:lstStyle/>
          <a:p>
            <a:pPr indent="0" marL="0">
              <a:buNone/>
            </a:pPr>
            <a:r>
              <a:rPr lang="en-US" sz="1450" dirty="0">
                <a:solidFill>
                  <a:srgbClr val="F7F8FA"/>
                </a:solidFill>
                <a:latin typeface="Calibri" pitchFamily="34" charset="0"/>
                <a:ea typeface="Calibri" pitchFamily="34" charset="-122"/>
                <a:cs typeface="Calibri" pitchFamily="34" charset="-120"/>
              </a:rPr>
              <a:t>Payment-request creation with public links and QR codes</a:t>
            </a:r>
            <a:endParaRPr lang="en-US" sz="1450" dirty="0"/>
          </a:p>
        </p:txBody>
      </p:sp>
      <p:sp>
        <p:nvSpPr>
          <p:cNvPr id="8" name="Shape 6"/>
          <p:cNvSpPr/>
          <p:nvPr/>
        </p:nvSpPr>
        <p:spPr>
          <a:xfrm>
            <a:off x="685800" y="3264408"/>
            <a:ext cx="82296" cy="82296"/>
          </a:xfrm>
          <a:prstGeom prst="ellipse">
            <a:avLst/>
          </a:prstGeom>
          <a:solidFill>
            <a:srgbClr val="7C5CFC"/>
          </a:solidFill>
          <a:ln/>
        </p:spPr>
      </p:sp>
      <p:sp>
        <p:nvSpPr>
          <p:cNvPr id="9" name="Text 7"/>
          <p:cNvSpPr/>
          <p:nvPr/>
        </p:nvSpPr>
        <p:spPr>
          <a:xfrm>
            <a:off x="960120" y="3163824"/>
            <a:ext cx="4860036" cy="594360"/>
          </a:xfrm>
          <a:prstGeom prst="rect">
            <a:avLst/>
          </a:prstGeom>
          <a:noFill/>
          <a:ln/>
        </p:spPr>
        <p:txBody>
          <a:bodyPr wrap="square" rtlCol="0" anchor="t"/>
          <a:lstStyle/>
          <a:p>
            <a:pPr indent="0" marL="0">
              <a:buNone/>
            </a:pPr>
            <a:r>
              <a:rPr lang="en-US" sz="1450" dirty="0">
                <a:solidFill>
                  <a:srgbClr val="F7F8FA"/>
                </a:solidFill>
                <a:latin typeface="Calibri" pitchFamily="34" charset="0"/>
                <a:ea typeface="Calibri" pitchFamily="34" charset="-122"/>
                <a:cs typeface="Calibri" pitchFamily="34" charset="-120"/>
              </a:rPr>
              <a:t>Freighter authorization on Stellar Testnet</a:t>
            </a:r>
            <a:endParaRPr lang="en-US" sz="1450" dirty="0"/>
          </a:p>
        </p:txBody>
      </p:sp>
      <p:sp>
        <p:nvSpPr>
          <p:cNvPr id="10" name="Shape 8"/>
          <p:cNvSpPr/>
          <p:nvPr/>
        </p:nvSpPr>
        <p:spPr>
          <a:xfrm>
            <a:off x="685800" y="3886200"/>
            <a:ext cx="82296" cy="82296"/>
          </a:xfrm>
          <a:prstGeom prst="ellipse">
            <a:avLst/>
          </a:prstGeom>
          <a:solidFill>
            <a:srgbClr val="7C5CFC"/>
          </a:solidFill>
          <a:ln/>
        </p:spPr>
      </p:sp>
      <p:sp>
        <p:nvSpPr>
          <p:cNvPr id="11" name="Text 9"/>
          <p:cNvSpPr/>
          <p:nvPr/>
        </p:nvSpPr>
        <p:spPr>
          <a:xfrm>
            <a:off x="960120" y="3785616"/>
            <a:ext cx="4860036" cy="594360"/>
          </a:xfrm>
          <a:prstGeom prst="rect">
            <a:avLst/>
          </a:prstGeom>
          <a:noFill/>
          <a:ln/>
        </p:spPr>
        <p:txBody>
          <a:bodyPr wrap="square" rtlCol="0" anchor="t"/>
          <a:lstStyle/>
          <a:p>
            <a:pPr indent="0" marL="0">
              <a:buNone/>
            </a:pPr>
            <a:r>
              <a:rPr lang="en-US" sz="1450" dirty="0">
                <a:solidFill>
                  <a:srgbClr val="F7F8FA"/>
                </a:solidFill>
                <a:latin typeface="Calibri" pitchFamily="34" charset="0"/>
                <a:ea typeface="Calibri" pitchFamily="34" charset="-122"/>
                <a:cs typeface="Calibri" pitchFamily="34" charset="-120"/>
              </a:rPr>
              <a:t>Server-side Horizon verification and atomic recording</a:t>
            </a:r>
            <a:endParaRPr lang="en-US" sz="1450" dirty="0"/>
          </a:p>
        </p:txBody>
      </p:sp>
      <p:sp>
        <p:nvSpPr>
          <p:cNvPr id="12" name="Shape 10"/>
          <p:cNvSpPr/>
          <p:nvPr/>
        </p:nvSpPr>
        <p:spPr>
          <a:xfrm>
            <a:off x="685800" y="4507992"/>
            <a:ext cx="82296" cy="82296"/>
          </a:xfrm>
          <a:prstGeom prst="ellipse">
            <a:avLst/>
          </a:prstGeom>
          <a:solidFill>
            <a:srgbClr val="7C5CFC"/>
          </a:solidFill>
          <a:ln/>
        </p:spPr>
      </p:sp>
      <p:sp>
        <p:nvSpPr>
          <p:cNvPr id="13" name="Text 11"/>
          <p:cNvSpPr/>
          <p:nvPr/>
        </p:nvSpPr>
        <p:spPr>
          <a:xfrm>
            <a:off x="960120" y="4407408"/>
            <a:ext cx="4860036" cy="594360"/>
          </a:xfrm>
          <a:prstGeom prst="rect">
            <a:avLst/>
          </a:prstGeom>
          <a:noFill/>
          <a:ln/>
        </p:spPr>
        <p:txBody>
          <a:bodyPr wrap="square" rtlCol="0" anchor="t"/>
          <a:lstStyle/>
          <a:p>
            <a:pPr indent="0" marL="0">
              <a:buNone/>
            </a:pPr>
            <a:r>
              <a:rPr lang="en-US" sz="1450" dirty="0">
                <a:solidFill>
                  <a:srgbClr val="F7F8FA"/>
                </a:solidFill>
                <a:latin typeface="Calibri" pitchFamily="34" charset="0"/>
                <a:ea typeface="Calibri" pitchFamily="34" charset="-122"/>
                <a:cs typeface="Calibri" pitchFamily="34" charset="-120"/>
              </a:rPr>
              <a:t>Merchant payment history</a:t>
            </a:r>
            <a:endParaRPr lang="en-US" sz="1450" dirty="0"/>
          </a:p>
        </p:txBody>
      </p:sp>
      <p:sp>
        <p:nvSpPr>
          <p:cNvPr id="14" name="Shape 12"/>
          <p:cNvSpPr/>
          <p:nvPr/>
        </p:nvSpPr>
        <p:spPr>
          <a:xfrm>
            <a:off x="685800" y="5129784"/>
            <a:ext cx="82296" cy="82296"/>
          </a:xfrm>
          <a:prstGeom prst="ellipse">
            <a:avLst/>
          </a:prstGeom>
          <a:solidFill>
            <a:srgbClr val="7C5CFC"/>
          </a:solidFill>
          <a:ln/>
        </p:spPr>
      </p:sp>
      <p:sp>
        <p:nvSpPr>
          <p:cNvPr id="15" name="Text 13"/>
          <p:cNvSpPr/>
          <p:nvPr/>
        </p:nvSpPr>
        <p:spPr>
          <a:xfrm>
            <a:off x="960120" y="5029200"/>
            <a:ext cx="4860036" cy="594360"/>
          </a:xfrm>
          <a:prstGeom prst="rect">
            <a:avLst/>
          </a:prstGeom>
          <a:noFill/>
          <a:ln/>
        </p:spPr>
        <p:txBody>
          <a:bodyPr wrap="square" rtlCol="0" anchor="t"/>
          <a:lstStyle/>
          <a:p>
            <a:pPr indent="0" marL="0">
              <a:buNone/>
            </a:pPr>
            <a:r>
              <a:rPr lang="en-US" sz="1450" dirty="0">
                <a:solidFill>
                  <a:srgbClr val="F7F8FA"/>
                </a:solidFill>
                <a:latin typeface="Calibri" pitchFamily="34" charset="0"/>
                <a:ea typeface="Calibri" pitchFamily="34" charset="-122"/>
                <a:cs typeface="Calibri" pitchFamily="34" charset="-120"/>
              </a:rPr>
              <a:t>Security via server-side validation and Row-Level Security</a:t>
            </a:r>
            <a:endParaRPr lang="en-US" sz="1450" dirty="0"/>
          </a:p>
        </p:txBody>
      </p:sp>
      <p:sp>
        <p:nvSpPr>
          <p:cNvPr id="16" name="Text 14"/>
          <p:cNvSpPr/>
          <p:nvPr/>
        </p:nvSpPr>
        <p:spPr>
          <a:xfrm>
            <a:off x="6368796" y="1417320"/>
            <a:ext cx="5134356" cy="365760"/>
          </a:xfrm>
          <a:prstGeom prst="rect">
            <a:avLst/>
          </a:prstGeom>
          <a:noFill/>
          <a:ln/>
        </p:spPr>
        <p:txBody>
          <a:bodyPr wrap="square" rtlCol="0" anchor="ctr"/>
          <a:lstStyle/>
          <a:p>
            <a:pPr indent="0" marL="0">
              <a:buNone/>
            </a:pPr>
            <a:r>
              <a:rPr lang="en-US" sz="1500" b="1" dirty="0">
                <a:solidFill>
                  <a:srgbClr val="7B818C"/>
                </a:solidFill>
                <a:latin typeface="Calibri" pitchFamily="34" charset="0"/>
                <a:ea typeface="Calibri" pitchFamily="34" charset="-122"/>
                <a:cs typeface="Calibri" pitchFamily="34" charset="-120"/>
              </a:rPr>
              <a:t>ROADMAP</a:t>
            </a:r>
            <a:endParaRPr lang="en-US" sz="1500" dirty="0"/>
          </a:p>
        </p:txBody>
      </p:sp>
      <p:sp>
        <p:nvSpPr>
          <p:cNvPr id="17" name="Shape 15"/>
          <p:cNvSpPr/>
          <p:nvPr/>
        </p:nvSpPr>
        <p:spPr>
          <a:xfrm>
            <a:off x="6368796" y="2020824"/>
            <a:ext cx="82296" cy="82296"/>
          </a:xfrm>
          <a:prstGeom prst="ellipse">
            <a:avLst/>
          </a:prstGeom>
          <a:ln w="12700">
            <a:solidFill>
              <a:srgbClr val="7B818C"/>
            </a:solidFill>
            <a:prstDash val="solid"/>
          </a:ln>
        </p:spPr>
      </p:sp>
      <p:sp>
        <p:nvSpPr>
          <p:cNvPr id="18" name="Text 16"/>
          <p:cNvSpPr/>
          <p:nvPr/>
        </p:nvSpPr>
        <p:spPr>
          <a:xfrm>
            <a:off x="6643116" y="1920240"/>
            <a:ext cx="4860036" cy="594360"/>
          </a:xfrm>
          <a:prstGeom prst="rect">
            <a:avLst/>
          </a:prstGeom>
          <a:noFill/>
          <a:ln/>
        </p:spPr>
        <p:txBody>
          <a:bodyPr wrap="square" rtlCol="0" anchor="t"/>
          <a:lstStyle/>
          <a:p>
            <a:pPr indent="0" marL="0">
              <a:buNone/>
            </a:pPr>
            <a:r>
              <a:rPr lang="en-US" sz="1450" dirty="0">
                <a:solidFill>
                  <a:srgbClr val="7B818C"/>
                </a:solidFill>
                <a:latin typeface="Calibri" pitchFamily="34" charset="0"/>
                <a:ea typeface="Calibri" pitchFamily="34" charset="-122"/>
                <a:cs typeface="Calibri" pitchFamily="34" charset="-120"/>
              </a:rPr>
              <a:t>Hardened identity verification through OpenKYC</a:t>
            </a:r>
            <a:endParaRPr lang="en-US" sz="1450" dirty="0"/>
          </a:p>
        </p:txBody>
      </p:sp>
      <p:sp>
        <p:nvSpPr>
          <p:cNvPr id="19" name="Shape 17"/>
          <p:cNvSpPr/>
          <p:nvPr/>
        </p:nvSpPr>
        <p:spPr>
          <a:xfrm>
            <a:off x="6368796" y="2642616"/>
            <a:ext cx="82296" cy="82296"/>
          </a:xfrm>
          <a:prstGeom prst="ellipse">
            <a:avLst/>
          </a:prstGeom>
          <a:ln w="12700">
            <a:solidFill>
              <a:srgbClr val="7B818C"/>
            </a:solidFill>
            <a:prstDash val="solid"/>
          </a:ln>
        </p:spPr>
      </p:sp>
      <p:sp>
        <p:nvSpPr>
          <p:cNvPr id="20" name="Text 18"/>
          <p:cNvSpPr/>
          <p:nvPr/>
        </p:nvSpPr>
        <p:spPr>
          <a:xfrm>
            <a:off x="6643116" y="2542032"/>
            <a:ext cx="4860036" cy="594360"/>
          </a:xfrm>
          <a:prstGeom prst="rect">
            <a:avLst/>
          </a:prstGeom>
          <a:noFill/>
          <a:ln/>
        </p:spPr>
        <p:txBody>
          <a:bodyPr wrap="square" rtlCol="0" anchor="t"/>
          <a:lstStyle/>
          <a:p>
            <a:pPr indent="0" marL="0">
              <a:buNone/>
            </a:pPr>
            <a:r>
              <a:rPr lang="en-US" sz="1450" dirty="0">
                <a:solidFill>
                  <a:srgbClr val="7B818C"/>
                </a:solidFill>
                <a:latin typeface="Calibri" pitchFamily="34" charset="0"/>
                <a:ea typeface="Calibri" pitchFamily="34" charset="-122"/>
                <a:cs typeface="Calibri" pitchFamily="34" charset="-120"/>
              </a:rPr>
              <a:t>Optional hosted-wallet payments</a:t>
            </a:r>
            <a:endParaRPr lang="en-US" sz="1450" dirty="0"/>
          </a:p>
        </p:txBody>
      </p:sp>
      <p:sp>
        <p:nvSpPr>
          <p:cNvPr id="21" name="Shape 19"/>
          <p:cNvSpPr/>
          <p:nvPr/>
        </p:nvSpPr>
        <p:spPr>
          <a:xfrm>
            <a:off x="6368796" y="3264408"/>
            <a:ext cx="82296" cy="82296"/>
          </a:xfrm>
          <a:prstGeom prst="ellipse">
            <a:avLst/>
          </a:prstGeom>
          <a:ln w="12700">
            <a:solidFill>
              <a:srgbClr val="7B818C"/>
            </a:solidFill>
            <a:prstDash val="solid"/>
          </a:ln>
        </p:spPr>
      </p:sp>
      <p:sp>
        <p:nvSpPr>
          <p:cNvPr id="22" name="Text 20"/>
          <p:cNvSpPr/>
          <p:nvPr/>
        </p:nvSpPr>
        <p:spPr>
          <a:xfrm>
            <a:off x="6643116" y="3163824"/>
            <a:ext cx="4860036" cy="594360"/>
          </a:xfrm>
          <a:prstGeom prst="rect">
            <a:avLst/>
          </a:prstGeom>
          <a:noFill/>
          <a:ln/>
        </p:spPr>
        <p:txBody>
          <a:bodyPr wrap="square" rtlCol="0" anchor="t"/>
          <a:lstStyle/>
          <a:p>
            <a:pPr indent="0" marL="0">
              <a:buNone/>
            </a:pPr>
            <a:r>
              <a:rPr lang="en-US" sz="1450" dirty="0">
                <a:solidFill>
                  <a:srgbClr val="7B818C"/>
                </a:solidFill>
                <a:latin typeface="Calibri" pitchFamily="34" charset="0"/>
                <a:ea typeface="Calibri" pitchFamily="34" charset="-122"/>
                <a:cs typeface="Calibri" pitchFamily="34" charset="-120"/>
              </a:rPr>
              <a:t>Automated PDF receipts</a:t>
            </a:r>
            <a:endParaRPr lang="en-US" sz="1450" dirty="0"/>
          </a:p>
        </p:txBody>
      </p:sp>
      <p:sp>
        <p:nvSpPr>
          <p:cNvPr id="23" name="Shape 21"/>
          <p:cNvSpPr/>
          <p:nvPr/>
        </p:nvSpPr>
        <p:spPr>
          <a:xfrm>
            <a:off x="6368796" y="3886200"/>
            <a:ext cx="82296" cy="82296"/>
          </a:xfrm>
          <a:prstGeom prst="ellipse">
            <a:avLst/>
          </a:prstGeom>
          <a:ln w="12700">
            <a:solidFill>
              <a:srgbClr val="7B818C"/>
            </a:solidFill>
            <a:prstDash val="solid"/>
          </a:ln>
        </p:spPr>
      </p:sp>
      <p:sp>
        <p:nvSpPr>
          <p:cNvPr id="24" name="Text 22"/>
          <p:cNvSpPr/>
          <p:nvPr/>
        </p:nvSpPr>
        <p:spPr>
          <a:xfrm>
            <a:off x="6643116" y="3785616"/>
            <a:ext cx="4860036" cy="594360"/>
          </a:xfrm>
          <a:prstGeom prst="rect">
            <a:avLst/>
          </a:prstGeom>
          <a:noFill/>
          <a:ln/>
        </p:spPr>
        <p:txBody>
          <a:bodyPr wrap="square" rtlCol="0" anchor="t"/>
          <a:lstStyle/>
          <a:p>
            <a:pPr indent="0" marL="0">
              <a:buNone/>
            </a:pPr>
            <a:r>
              <a:rPr lang="en-US" sz="1450" dirty="0">
                <a:solidFill>
                  <a:srgbClr val="7B818C"/>
                </a:solidFill>
                <a:latin typeface="Calibri" pitchFamily="34" charset="0"/>
                <a:ea typeface="Calibri" pitchFamily="34" charset="-122"/>
                <a:cs typeface="Calibri" pitchFamily="34" charset="-120"/>
              </a:rPr>
              <a:t>Expanded Stellar asset support</a:t>
            </a:r>
            <a:endParaRPr lang="en-US" sz="1450" dirty="0"/>
          </a:p>
        </p:txBody>
      </p:sp>
      <p:sp>
        <p:nvSpPr>
          <p:cNvPr id="25" name="Shape 23"/>
          <p:cNvSpPr/>
          <p:nvPr/>
        </p:nvSpPr>
        <p:spPr>
          <a:xfrm>
            <a:off x="6368796" y="4507992"/>
            <a:ext cx="82296" cy="82296"/>
          </a:xfrm>
          <a:prstGeom prst="ellipse">
            <a:avLst/>
          </a:prstGeom>
          <a:ln w="12700">
            <a:solidFill>
              <a:srgbClr val="7B818C"/>
            </a:solidFill>
            <a:prstDash val="solid"/>
          </a:ln>
        </p:spPr>
      </p:sp>
      <p:sp>
        <p:nvSpPr>
          <p:cNvPr id="26" name="Text 24"/>
          <p:cNvSpPr/>
          <p:nvPr/>
        </p:nvSpPr>
        <p:spPr>
          <a:xfrm>
            <a:off x="6643116" y="4407408"/>
            <a:ext cx="4860036" cy="594360"/>
          </a:xfrm>
          <a:prstGeom prst="rect">
            <a:avLst/>
          </a:prstGeom>
          <a:noFill/>
          <a:ln/>
        </p:spPr>
        <p:txBody>
          <a:bodyPr wrap="square" rtlCol="0" anchor="t"/>
          <a:lstStyle/>
          <a:p>
            <a:pPr indent="0" marL="0">
              <a:buNone/>
            </a:pPr>
            <a:r>
              <a:rPr lang="en-US" sz="1450" dirty="0">
                <a:solidFill>
                  <a:srgbClr val="7B818C"/>
                </a:solidFill>
                <a:latin typeface="Calibri" pitchFamily="34" charset="0"/>
                <a:ea typeface="Calibri" pitchFamily="34" charset="-122"/>
                <a:cs typeface="Calibri" pitchFamily="34" charset="-120"/>
              </a:rPr>
              <a:t>Mainnet activation after security and compliance readiness</a:t>
            </a:r>
            <a:endParaRPr lang="en-US" sz="1450" dirty="0"/>
          </a:p>
        </p:txBody>
      </p:sp>
      <p:sp>
        <p:nvSpPr>
          <p:cNvPr id="27" name="Shape 25"/>
          <p:cNvSpPr/>
          <p:nvPr/>
        </p:nvSpPr>
        <p:spPr>
          <a:xfrm>
            <a:off x="6368796" y="5129784"/>
            <a:ext cx="82296" cy="82296"/>
          </a:xfrm>
          <a:prstGeom prst="ellipse">
            <a:avLst/>
          </a:prstGeom>
          <a:ln w="12700">
            <a:solidFill>
              <a:srgbClr val="7B818C"/>
            </a:solidFill>
            <a:prstDash val="solid"/>
          </a:ln>
        </p:spPr>
      </p:sp>
      <p:sp>
        <p:nvSpPr>
          <p:cNvPr id="28" name="Text 26"/>
          <p:cNvSpPr/>
          <p:nvPr/>
        </p:nvSpPr>
        <p:spPr>
          <a:xfrm>
            <a:off x="6643116" y="5029200"/>
            <a:ext cx="4860036" cy="594360"/>
          </a:xfrm>
          <a:prstGeom prst="rect">
            <a:avLst/>
          </a:prstGeom>
          <a:noFill/>
          <a:ln/>
        </p:spPr>
        <p:txBody>
          <a:bodyPr wrap="square" rtlCol="0" anchor="t"/>
          <a:lstStyle/>
          <a:p>
            <a:pPr indent="0" marL="0">
              <a:buNone/>
            </a:pPr>
            <a:r>
              <a:rPr lang="en-US" sz="1450" dirty="0">
                <a:solidFill>
                  <a:srgbClr val="7B818C"/>
                </a:solidFill>
                <a:latin typeface="Calibri" pitchFamily="34" charset="0"/>
                <a:ea typeface="Calibri" pitchFamily="34" charset="-122"/>
                <a:cs typeface="Calibri" pitchFamily="34" charset="-120"/>
              </a:rPr>
              <a:t>APIs and SDKs for platform integrations</a:t>
            </a:r>
            <a:endParaRPr lang="en-US" sz="1450" dirty="0"/>
          </a:p>
        </p:txBody>
      </p:sp>
      <p:sp>
        <p:nvSpPr>
          <p:cNvPr id="29" name="Text 27"/>
          <p:cNvSpPr/>
          <p:nvPr/>
        </p:nvSpPr>
        <p:spPr>
          <a:xfrm>
            <a:off x="685800" y="6172200"/>
            <a:ext cx="10817352" cy="457200"/>
          </a:xfrm>
          <a:prstGeom prst="rect">
            <a:avLst/>
          </a:prstGeom>
          <a:noFill/>
          <a:ln/>
        </p:spPr>
        <p:txBody>
          <a:bodyPr wrap="square" rtlCol="0" anchor="ctr"/>
          <a:lstStyle/>
          <a:p>
            <a:pPr indent="0" marL="0">
              <a:buNone/>
            </a:pPr>
            <a:r>
              <a:rPr lang="en-US" sz="1250" i="1" dirty="0">
                <a:solidFill>
                  <a:srgbClr val="7B818C"/>
                </a:solidFill>
                <a:latin typeface="Calibri" pitchFamily="34" charset="0"/>
                <a:ea typeface="Calibri" pitchFamily="34" charset="-122"/>
                <a:cs typeface="Calibri" pitchFamily="34" charset="-120"/>
              </a:rPr>
              <a:t>Status: validated in development on Stellar Testnet — full end-to-end wallet testing is ongoing, not yet claimed as complete.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0"/>
        </a:solidFill>
      </p:bgPr>
    </p:bg>
    <p:spTree>
      <p:nvGrpSpPr>
        <p:cNvPr id="1" name=""/>
        <p:cNvGrpSpPr/>
        <p:nvPr/>
      </p:nvGrpSpPr>
      <p:grpSpPr>
        <a:xfrm>
          <a:off x="0" y="0"/>
          <a:ext cx="0" cy="0"/>
          <a:chOff x="0" y="0"/>
          <a:chExt cx="0" cy="0"/>
        </a:xfrm>
      </p:grpSpPr>
      <p:sp>
        <p:nvSpPr>
          <p:cNvPr id="2" name="Shape 0"/>
          <p:cNvSpPr/>
          <p:nvPr/>
        </p:nvSpPr>
        <p:spPr>
          <a:xfrm>
            <a:off x="685800" y="594360"/>
            <a:ext cx="548640" cy="548640"/>
          </a:xfrm>
          <a:prstGeom prst="ellipse">
            <a:avLst/>
          </a:prstGeom>
          <a:ln w="25400">
            <a:solidFill>
              <a:srgbClr val="7C5CFC"/>
            </a:solidFill>
            <a:prstDash val="solid"/>
          </a:ln>
        </p:spPr>
      </p:sp>
      <p:sp>
        <p:nvSpPr>
          <p:cNvPr id="3" name="Text 1"/>
          <p:cNvSpPr/>
          <p:nvPr/>
        </p:nvSpPr>
        <p:spPr>
          <a:xfrm>
            <a:off x="685800" y="1371600"/>
            <a:ext cx="4572000" cy="457200"/>
          </a:xfrm>
          <a:prstGeom prst="rect">
            <a:avLst/>
          </a:prstGeom>
          <a:noFill/>
          <a:ln/>
        </p:spPr>
        <p:txBody>
          <a:bodyPr wrap="square" rtlCol="0" anchor="ctr"/>
          <a:lstStyle/>
          <a:p>
            <a:pPr indent="0" marL="0">
              <a:buNone/>
            </a:pPr>
            <a:r>
              <a:rPr lang="en-US" sz="2400" b="1" dirty="0">
                <a:solidFill>
                  <a:srgbClr val="F7F8FA"/>
                </a:solidFill>
                <a:latin typeface="Arial" pitchFamily="34" charset="0"/>
                <a:ea typeface="Arial" pitchFamily="34" charset="-122"/>
                <a:cs typeface="Arial" pitchFamily="34" charset="-120"/>
              </a:rPr>
              <a:t>Team</a:t>
            </a:r>
            <a:endParaRPr lang="en-US" sz="2400" dirty="0"/>
          </a:p>
        </p:txBody>
      </p:sp>
      <p:sp>
        <p:nvSpPr>
          <p:cNvPr id="4" name="Text 2"/>
          <p:cNvSpPr/>
          <p:nvPr/>
        </p:nvSpPr>
        <p:spPr>
          <a:xfrm>
            <a:off x="685800" y="1965960"/>
            <a:ext cx="5029200" cy="320040"/>
          </a:xfrm>
          <a:prstGeom prst="rect">
            <a:avLst/>
          </a:prstGeom>
          <a:noFill/>
          <a:ln/>
        </p:spPr>
        <p:txBody>
          <a:bodyPr wrap="square" rtlCol="0" anchor="ctr"/>
          <a:lstStyle/>
          <a:p>
            <a:pPr indent="0" marL="0">
              <a:buNone/>
            </a:pPr>
            <a:r>
              <a:rPr lang="en-US" sz="1600" b="1" dirty="0">
                <a:solidFill>
                  <a:srgbClr val="F7F8FA"/>
                </a:solidFill>
                <a:latin typeface="Calibri" pitchFamily="34" charset="0"/>
                <a:ea typeface="Calibri" pitchFamily="34" charset="-122"/>
                <a:cs typeface="Calibri" pitchFamily="34" charset="-120"/>
              </a:rPr>
              <a:t>Kent Bryan Colina</a:t>
            </a:r>
            <a:endParaRPr lang="en-US" sz="1600" dirty="0"/>
          </a:p>
        </p:txBody>
      </p:sp>
      <p:sp>
        <p:nvSpPr>
          <p:cNvPr id="5" name="Text 3"/>
          <p:cNvSpPr/>
          <p:nvPr/>
        </p:nvSpPr>
        <p:spPr>
          <a:xfrm>
            <a:off x="685800" y="2267712"/>
            <a:ext cx="5029200" cy="320040"/>
          </a:xfrm>
          <a:prstGeom prst="rect">
            <a:avLst/>
          </a:prstGeom>
          <a:noFill/>
          <a:ln/>
        </p:spPr>
        <p:txBody>
          <a:bodyPr wrap="square" rtlCol="0" anchor="ctr"/>
          <a:lstStyle/>
          <a:p>
            <a:pPr indent="0" marL="0">
              <a:buNone/>
            </a:pPr>
            <a:r>
              <a:rPr lang="en-US" sz="1300" dirty="0">
                <a:solidFill>
                  <a:srgbClr val="7B818C"/>
                </a:solidFill>
                <a:latin typeface="Calibri" pitchFamily="34" charset="0"/>
                <a:ea typeface="Calibri" pitchFamily="34" charset="-122"/>
                <a:cs typeface="Calibri" pitchFamily="34" charset="-120"/>
              </a:rPr>
              <a:t>Team Lead &amp; Blockchain Engineer</a:t>
            </a:r>
            <a:endParaRPr lang="en-US" sz="1300" dirty="0"/>
          </a:p>
        </p:txBody>
      </p:sp>
      <p:sp>
        <p:nvSpPr>
          <p:cNvPr id="6" name="Text 4"/>
          <p:cNvSpPr/>
          <p:nvPr/>
        </p:nvSpPr>
        <p:spPr>
          <a:xfrm>
            <a:off x="685800" y="2715768"/>
            <a:ext cx="5029200" cy="320040"/>
          </a:xfrm>
          <a:prstGeom prst="rect">
            <a:avLst/>
          </a:prstGeom>
          <a:noFill/>
          <a:ln/>
        </p:spPr>
        <p:txBody>
          <a:bodyPr wrap="square" rtlCol="0" anchor="ctr"/>
          <a:lstStyle/>
          <a:p>
            <a:pPr indent="0" marL="0">
              <a:buNone/>
            </a:pPr>
            <a:r>
              <a:rPr lang="en-US" sz="1600" b="1" dirty="0">
                <a:solidFill>
                  <a:srgbClr val="F7F8FA"/>
                </a:solidFill>
                <a:latin typeface="Calibri" pitchFamily="34" charset="0"/>
                <a:ea typeface="Calibri" pitchFamily="34" charset="-122"/>
                <a:cs typeface="Calibri" pitchFamily="34" charset="-120"/>
              </a:rPr>
              <a:t>Paolo Araneta</a:t>
            </a:r>
            <a:endParaRPr lang="en-US" sz="1600" dirty="0"/>
          </a:p>
        </p:txBody>
      </p:sp>
      <p:sp>
        <p:nvSpPr>
          <p:cNvPr id="7" name="Text 5"/>
          <p:cNvSpPr/>
          <p:nvPr/>
        </p:nvSpPr>
        <p:spPr>
          <a:xfrm>
            <a:off x="685800" y="3017520"/>
            <a:ext cx="5029200" cy="320040"/>
          </a:xfrm>
          <a:prstGeom prst="rect">
            <a:avLst/>
          </a:prstGeom>
          <a:noFill/>
          <a:ln/>
        </p:spPr>
        <p:txBody>
          <a:bodyPr wrap="square" rtlCol="0" anchor="ctr"/>
          <a:lstStyle/>
          <a:p>
            <a:pPr indent="0" marL="0">
              <a:buNone/>
            </a:pPr>
            <a:r>
              <a:rPr lang="en-US" sz="1300" dirty="0">
                <a:solidFill>
                  <a:srgbClr val="7B818C"/>
                </a:solidFill>
                <a:latin typeface="Calibri" pitchFamily="34" charset="0"/>
                <a:ea typeface="Calibri" pitchFamily="34" charset="-122"/>
                <a:cs typeface="Calibri" pitchFamily="34" charset="-120"/>
              </a:rPr>
              <a:t>UI/UX Designer</a:t>
            </a:r>
            <a:endParaRPr lang="en-US" sz="1300" dirty="0"/>
          </a:p>
        </p:txBody>
      </p:sp>
      <p:sp>
        <p:nvSpPr>
          <p:cNvPr id="8" name="Text 6"/>
          <p:cNvSpPr/>
          <p:nvPr/>
        </p:nvSpPr>
        <p:spPr>
          <a:xfrm>
            <a:off x="685800" y="3465576"/>
            <a:ext cx="5029200" cy="320040"/>
          </a:xfrm>
          <a:prstGeom prst="rect">
            <a:avLst/>
          </a:prstGeom>
          <a:noFill/>
          <a:ln/>
        </p:spPr>
        <p:txBody>
          <a:bodyPr wrap="square" rtlCol="0" anchor="ctr"/>
          <a:lstStyle/>
          <a:p>
            <a:pPr indent="0" marL="0">
              <a:buNone/>
            </a:pPr>
            <a:r>
              <a:rPr lang="en-US" sz="1600" b="1" dirty="0">
                <a:solidFill>
                  <a:srgbClr val="F7F8FA"/>
                </a:solidFill>
                <a:latin typeface="Calibri" pitchFamily="34" charset="0"/>
                <a:ea typeface="Calibri" pitchFamily="34" charset="-122"/>
                <a:cs typeface="Calibri" pitchFamily="34" charset="-120"/>
              </a:rPr>
              <a:t>Vince Clave Igot</a:t>
            </a:r>
            <a:endParaRPr lang="en-US" sz="1600" dirty="0"/>
          </a:p>
        </p:txBody>
      </p:sp>
      <p:sp>
        <p:nvSpPr>
          <p:cNvPr id="9" name="Text 7"/>
          <p:cNvSpPr/>
          <p:nvPr/>
        </p:nvSpPr>
        <p:spPr>
          <a:xfrm>
            <a:off x="685800" y="3767328"/>
            <a:ext cx="5029200" cy="320040"/>
          </a:xfrm>
          <a:prstGeom prst="rect">
            <a:avLst/>
          </a:prstGeom>
          <a:noFill/>
          <a:ln/>
        </p:spPr>
        <p:txBody>
          <a:bodyPr wrap="square" rtlCol="0" anchor="ctr"/>
          <a:lstStyle/>
          <a:p>
            <a:pPr indent="0" marL="0">
              <a:buNone/>
            </a:pPr>
            <a:r>
              <a:rPr lang="en-US" sz="1300" dirty="0">
                <a:solidFill>
                  <a:srgbClr val="7B818C"/>
                </a:solidFill>
                <a:latin typeface="Calibri" pitchFamily="34" charset="0"/>
                <a:ea typeface="Calibri" pitchFamily="34" charset="-122"/>
                <a:cs typeface="Calibri" pitchFamily="34" charset="-120"/>
              </a:rPr>
              <a:t>Business Development &amp; Strategy Lead</a:t>
            </a:r>
            <a:endParaRPr lang="en-US" sz="1300" dirty="0"/>
          </a:p>
        </p:txBody>
      </p:sp>
      <p:sp>
        <p:nvSpPr>
          <p:cNvPr id="10" name="Text 8"/>
          <p:cNvSpPr/>
          <p:nvPr/>
        </p:nvSpPr>
        <p:spPr>
          <a:xfrm>
            <a:off x="685800" y="4215384"/>
            <a:ext cx="5029200" cy="320040"/>
          </a:xfrm>
          <a:prstGeom prst="rect">
            <a:avLst/>
          </a:prstGeom>
          <a:noFill/>
          <a:ln/>
        </p:spPr>
        <p:txBody>
          <a:bodyPr wrap="square" rtlCol="0" anchor="ctr"/>
          <a:lstStyle/>
          <a:p>
            <a:pPr indent="0" marL="0">
              <a:buNone/>
            </a:pPr>
            <a:r>
              <a:rPr lang="en-US" sz="1600" b="1" dirty="0">
                <a:solidFill>
                  <a:srgbClr val="F7F8FA"/>
                </a:solidFill>
                <a:latin typeface="Calibri" pitchFamily="34" charset="0"/>
                <a:ea typeface="Calibri" pitchFamily="34" charset="-122"/>
                <a:cs typeface="Calibri" pitchFamily="34" charset="-120"/>
              </a:rPr>
              <a:t>Anton James Genabio</a:t>
            </a:r>
            <a:endParaRPr lang="en-US" sz="1600" dirty="0"/>
          </a:p>
        </p:txBody>
      </p:sp>
      <p:sp>
        <p:nvSpPr>
          <p:cNvPr id="11" name="Text 9"/>
          <p:cNvSpPr/>
          <p:nvPr/>
        </p:nvSpPr>
        <p:spPr>
          <a:xfrm>
            <a:off x="685800" y="4517136"/>
            <a:ext cx="5029200" cy="320040"/>
          </a:xfrm>
          <a:prstGeom prst="rect">
            <a:avLst/>
          </a:prstGeom>
          <a:noFill/>
          <a:ln/>
        </p:spPr>
        <p:txBody>
          <a:bodyPr wrap="square" rtlCol="0" anchor="ctr"/>
          <a:lstStyle/>
          <a:p>
            <a:pPr indent="0" marL="0">
              <a:buNone/>
            </a:pPr>
            <a:r>
              <a:rPr lang="en-US" sz="1300" dirty="0">
                <a:solidFill>
                  <a:srgbClr val="7B818C"/>
                </a:solidFill>
                <a:latin typeface="Calibri" pitchFamily="34" charset="0"/>
                <a:ea typeface="Calibri" pitchFamily="34" charset="-122"/>
                <a:cs typeface="Calibri" pitchFamily="34" charset="-120"/>
              </a:rPr>
              <a:t>Product Designer</a:t>
            </a:r>
            <a:endParaRPr lang="en-US" sz="1300" dirty="0"/>
          </a:p>
        </p:txBody>
      </p:sp>
      <p:sp>
        <p:nvSpPr>
          <p:cNvPr id="12" name="Text 10"/>
          <p:cNvSpPr/>
          <p:nvPr/>
        </p:nvSpPr>
        <p:spPr>
          <a:xfrm>
            <a:off x="685800" y="4965192"/>
            <a:ext cx="5029200" cy="320040"/>
          </a:xfrm>
          <a:prstGeom prst="rect">
            <a:avLst/>
          </a:prstGeom>
          <a:noFill/>
          <a:ln/>
        </p:spPr>
        <p:txBody>
          <a:bodyPr wrap="square" rtlCol="0" anchor="ctr"/>
          <a:lstStyle/>
          <a:p>
            <a:pPr indent="0" marL="0">
              <a:buNone/>
            </a:pPr>
            <a:r>
              <a:rPr lang="en-US" sz="1600" b="1" dirty="0">
                <a:solidFill>
                  <a:srgbClr val="F7F8FA"/>
                </a:solidFill>
                <a:latin typeface="Calibri" pitchFamily="34" charset="0"/>
                <a:ea typeface="Calibri" pitchFamily="34" charset="-122"/>
                <a:cs typeface="Calibri" pitchFamily="34" charset="-120"/>
              </a:rPr>
              <a:t>Francis Gemuel Buot</a:t>
            </a:r>
            <a:endParaRPr lang="en-US" sz="1600" dirty="0"/>
          </a:p>
        </p:txBody>
      </p:sp>
      <p:sp>
        <p:nvSpPr>
          <p:cNvPr id="13" name="Text 11"/>
          <p:cNvSpPr/>
          <p:nvPr/>
        </p:nvSpPr>
        <p:spPr>
          <a:xfrm>
            <a:off x="685800" y="5266944"/>
            <a:ext cx="5029200" cy="320040"/>
          </a:xfrm>
          <a:prstGeom prst="rect">
            <a:avLst/>
          </a:prstGeom>
          <a:noFill/>
          <a:ln/>
        </p:spPr>
        <p:txBody>
          <a:bodyPr wrap="square" rtlCol="0" anchor="ctr"/>
          <a:lstStyle/>
          <a:p>
            <a:pPr indent="0" marL="0">
              <a:buNone/>
            </a:pPr>
            <a:r>
              <a:rPr lang="en-US" sz="1300" dirty="0">
                <a:solidFill>
                  <a:srgbClr val="7B818C"/>
                </a:solidFill>
                <a:latin typeface="Calibri" pitchFamily="34" charset="0"/>
                <a:ea typeface="Calibri" pitchFamily="34" charset="-122"/>
                <a:cs typeface="Calibri" pitchFamily="34" charset="-120"/>
              </a:rPr>
              <a:t>User Research &amp; Branding Lead</a:t>
            </a:r>
            <a:endParaRPr lang="en-US" sz="1300" dirty="0"/>
          </a:p>
        </p:txBody>
      </p:sp>
      <p:sp>
        <p:nvSpPr>
          <p:cNvPr id="14" name="Text 12"/>
          <p:cNvSpPr/>
          <p:nvPr/>
        </p:nvSpPr>
        <p:spPr>
          <a:xfrm>
            <a:off x="6675120" y="1828800"/>
            <a:ext cx="4846320" cy="548640"/>
          </a:xfrm>
          <a:prstGeom prst="rect">
            <a:avLst/>
          </a:prstGeom>
          <a:noFill/>
          <a:ln/>
        </p:spPr>
        <p:txBody>
          <a:bodyPr wrap="square" rtlCol="0" anchor="ctr"/>
          <a:lstStyle/>
          <a:p>
            <a:pPr indent="0" marL="0">
              <a:buNone/>
            </a:pPr>
            <a:r>
              <a:rPr lang="en-US" sz="2600" b="1" dirty="0">
                <a:solidFill>
                  <a:srgbClr val="7C5CFC"/>
                </a:solidFill>
                <a:latin typeface="Arial" pitchFamily="34" charset="0"/>
                <a:ea typeface="Arial" pitchFamily="34" charset="-122"/>
                <a:cs typeface="Arial" pitchFamily="34" charset="-120"/>
              </a:rPr>
              <a:t>Project ZERO</a:t>
            </a:r>
            <a:endParaRPr lang="en-US" sz="2600" dirty="0"/>
          </a:p>
        </p:txBody>
      </p:sp>
      <p:sp>
        <p:nvSpPr>
          <p:cNvPr id="15" name="Text 13"/>
          <p:cNvSpPr/>
          <p:nvPr/>
        </p:nvSpPr>
        <p:spPr>
          <a:xfrm>
            <a:off x="6675120" y="2377440"/>
            <a:ext cx="4846320" cy="731520"/>
          </a:xfrm>
          <a:prstGeom prst="rect">
            <a:avLst/>
          </a:prstGeom>
          <a:noFill/>
          <a:ln/>
        </p:spPr>
        <p:txBody>
          <a:bodyPr wrap="square" rtlCol="0" anchor="ctr"/>
          <a:lstStyle/>
          <a:p>
            <a:pPr indent="0" marL="0">
              <a:buNone/>
            </a:pPr>
            <a:r>
              <a:rPr lang="en-US" sz="1800" i="1" dirty="0">
                <a:solidFill>
                  <a:srgbClr val="F7F8FA"/>
                </a:solidFill>
                <a:latin typeface="Calibri" pitchFamily="34" charset="0"/>
                <a:ea typeface="Calibri" pitchFamily="34" charset="-122"/>
                <a:cs typeface="Calibri" pitchFamily="34" charset="-120"/>
              </a:rPr>
              <a:t>Make payments verifiable, not credential-dependent.</a:t>
            </a:r>
            <a:endParaRPr lang="en-US" sz="1800" dirty="0"/>
          </a:p>
        </p:txBody>
      </p:sp>
      <p:sp>
        <p:nvSpPr>
          <p:cNvPr id="16" name="Text 14"/>
          <p:cNvSpPr/>
          <p:nvPr/>
        </p:nvSpPr>
        <p:spPr>
          <a:xfrm>
            <a:off x="6675120" y="3246120"/>
            <a:ext cx="4846320" cy="1005840"/>
          </a:xfrm>
          <a:prstGeom prst="rect">
            <a:avLst/>
          </a:prstGeom>
          <a:noFill/>
          <a:ln/>
        </p:spPr>
        <p:txBody>
          <a:bodyPr wrap="square" rtlCol="0" anchor="t"/>
          <a:lstStyle/>
          <a:p>
            <a:pPr indent="0" marL="0">
              <a:buNone/>
            </a:pPr>
            <a:r>
              <a:rPr lang="en-US" sz="1450" dirty="0">
                <a:solidFill>
                  <a:srgbClr val="7B818C"/>
                </a:solidFill>
                <a:latin typeface="Calibri" pitchFamily="34" charset="0"/>
                <a:ea typeface="Calibri" pitchFamily="34" charset="-122"/>
                <a:cs typeface="Calibri" pitchFamily="34" charset="-120"/>
              </a:rPr>
              <a:t>Helping small merchants everywhere accept payments they can trust — without holding onto customer secrets they never needed.</a:t>
            </a:r>
            <a:endParaRPr lang="en-US" sz="1450" dirty="0"/>
          </a:p>
        </p:txBody>
      </p:sp>
      <p:pic>
        <p:nvPicPr>
          <p:cNvPr id="17" name="Image 0" descr="/home/claude/zero_deck/icons/demo_violet.png">    </p:cNvPr>
          <p:cNvPicPr>
            <a:picLocks noChangeAspect="1"/>
          </p:cNvPicPr>
          <p:nvPr/>
        </p:nvPicPr>
        <p:blipFill>
          <a:blip r:embed="rId1"/>
          <a:stretch>
            <a:fillRect/>
          </a:stretch>
        </p:blipFill>
        <p:spPr>
          <a:xfrm>
            <a:off x="6675120" y="4599432"/>
            <a:ext cx="256032" cy="256032"/>
          </a:xfrm>
          <a:prstGeom prst="rect">
            <a:avLst/>
          </a:prstGeom>
        </p:spPr>
      </p:pic>
      <p:sp>
        <p:nvSpPr>
          <p:cNvPr id="18" name="Text 15"/>
          <p:cNvSpPr/>
          <p:nvPr/>
        </p:nvSpPr>
        <p:spPr>
          <a:xfrm>
            <a:off x="7059168" y="4572000"/>
            <a:ext cx="4480560" cy="320040"/>
          </a:xfrm>
          <a:prstGeom prst="rect">
            <a:avLst/>
          </a:prstGeom>
          <a:noFill/>
          <a:ln/>
        </p:spPr>
        <p:txBody>
          <a:bodyPr wrap="square" rtlCol="0" anchor="ctr"/>
          <a:lstStyle/>
          <a:p>
            <a:pPr indent="0" marL="0">
              <a:buNone/>
            </a:pPr>
            <a:r>
              <a:rPr lang="en-US" sz="1350" dirty="0">
                <a:solidFill>
                  <a:srgbClr val="F7F8FA"/>
                </a:solidFill>
                <a:latin typeface="Calibri" pitchFamily="34" charset="0"/>
                <a:ea typeface="Calibri" pitchFamily="34" charset="-122"/>
                <a:cs typeface="Calibri" pitchFamily="34" charset="-120"/>
              </a:rPr>
              <a:t>Live demo: [insert link]</a:t>
            </a:r>
            <a:endParaRPr lang="en-US" sz="1350" dirty="0"/>
          </a:p>
        </p:txBody>
      </p:sp>
      <p:pic>
        <p:nvPicPr>
          <p:cNvPr id="19" name="Image 1" descr="/home/claude/zero_deck/icons/video_violet.png">    </p:cNvPr>
          <p:cNvPicPr>
            <a:picLocks noChangeAspect="1"/>
          </p:cNvPicPr>
          <p:nvPr/>
        </p:nvPicPr>
        <p:blipFill>
          <a:blip r:embed="rId2"/>
          <a:stretch>
            <a:fillRect/>
          </a:stretch>
        </p:blipFill>
        <p:spPr>
          <a:xfrm>
            <a:off x="6675120" y="5020056"/>
            <a:ext cx="256032" cy="256032"/>
          </a:xfrm>
          <a:prstGeom prst="rect">
            <a:avLst/>
          </a:prstGeom>
        </p:spPr>
      </p:pic>
      <p:sp>
        <p:nvSpPr>
          <p:cNvPr id="20" name="Text 16"/>
          <p:cNvSpPr/>
          <p:nvPr/>
        </p:nvSpPr>
        <p:spPr>
          <a:xfrm>
            <a:off x="7059168" y="4992624"/>
            <a:ext cx="4480560" cy="320040"/>
          </a:xfrm>
          <a:prstGeom prst="rect">
            <a:avLst/>
          </a:prstGeom>
          <a:noFill/>
          <a:ln/>
        </p:spPr>
        <p:txBody>
          <a:bodyPr wrap="square" rtlCol="0" anchor="ctr"/>
          <a:lstStyle/>
          <a:p>
            <a:pPr indent="0" marL="0">
              <a:buNone/>
            </a:pPr>
            <a:r>
              <a:rPr lang="en-US" sz="1350" dirty="0">
                <a:solidFill>
                  <a:srgbClr val="F7F8FA"/>
                </a:solidFill>
                <a:latin typeface="Calibri" pitchFamily="34" charset="0"/>
                <a:ea typeface="Calibri" pitchFamily="34" charset="-122"/>
                <a:cs typeface="Calibri" pitchFamily="34" charset="-120"/>
              </a:rPr>
              <a:t>Demo video: [insert link]</a:t>
            </a:r>
            <a:endParaRPr lang="en-US" sz="1350" dirty="0"/>
          </a:p>
        </p:txBody>
      </p:sp>
      <p:pic>
        <p:nvPicPr>
          <p:cNvPr id="21" name="Image 2" descr="/home/claude/zero_deck/icons/github_violet.png">    </p:cNvPr>
          <p:cNvPicPr>
            <a:picLocks noChangeAspect="1"/>
          </p:cNvPicPr>
          <p:nvPr/>
        </p:nvPicPr>
        <p:blipFill>
          <a:blip r:embed="rId3"/>
          <a:stretch>
            <a:fillRect/>
          </a:stretch>
        </p:blipFill>
        <p:spPr>
          <a:xfrm>
            <a:off x="6675120" y="5440680"/>
            <a:ext cx="256032" cy="256032"/>
          </a:xfrm>
          <a:prstGeom prst="rect">
            <a:avLst/>
          </a:prstGeom>
        </p:spPr>
      </p:pic>
      <p:sp>
        <p:nvSpPr>
          <p:cNvPr id="22" name="Text 17"/>
          <p:cNvSpPr/>
          <p:nvPr/>
        </p:nvSpPr>
        <p:spPr>
          <a:xfrm>
            <a:off x="7059168" y="5413248"/>
            <a:ext cx="4480560" cy="320040"/>
          </a:xfrm>
          <a:prstGeom prst="rect">
            <a:avLst/>
          </a:prstGeom>
          <a:noFill/>
          <a:ln/>
        </p:spPr>
        <p:txBody>
          <a:bodyPr wrap="square" rtlCol="0" anchor="ctr"/>
          <a:lstStyle/>
          <a:p>
            <a:pPr indent="0" marL="0">
              <a:buNone/>
            </a:pPr>
            <a:r>
              <a:rPr lang="en-US" sz="1350" dirty="0">
                <a:solidFill>
                  <a:srgbClr val="F7F8FA"/>
                </a:solidFill>
                <a:latin typeface="Calibri" pitchFamily="34" charset="0"/>
                <a:ea typeface="Calibri" pitchFamily="34" charset="-122"/>
                <a:cs typeface="Calibri" pitchFamily="34" charset="-120"/>
              </a:rPr>
              <a:t>GitHub: [insert repo link]</a:t>
            </a:r>
            <a:endParaRPr lang="en-US" sz="1350" dirty="0"/>
          </a:p>
        </p:txBody>
      </p:sp>
      <p:pic>
        <p:nvPicPr>
          <p:cNvPr id="23" name="Image 3" descr="/home/claude/zero_deck/icons/contact_violet.png">    </p:cNvPr>
          <p:cNvPicPr>
            <a:picLocks noChangeAspect="1"/>
          </p:cNvPicPr>
          <p:nvPr/>
        </p:nvPicPr>
        <p:blipFill>
          <a:blip r:embed="rId4"/>
          <a:stretch>
            <a:fillRect/>
          </a:stretch>
        </p:blipFill>
        <p:spPr>
          <a:xfrm>
            <a:off x="6675120" y="5861304"/>
            <a:ext cx="256032" cy="256032"/>
          </a:xfrm>
          <a:prstGeom prst="rect">
            <a:avLst/>
          </a:prstGeom>
        </p:spPr>
      </p:pic>
      <p:sp>
        <p:nvSpPr>
          <p:cNvPr id="24" name="Text 18"/>
          <p:cNvSpPr/>
          <p:nvPr/>
        </p:nvSpPr>
        <p:spPr>
          <a:xfrm>
            <a:off x="7059168" y="5833872"/>
            <a:ext cx="4480560" cy="320040"/>
          </a:xfrm>
          <a:prstGeom prst="rect">
            <a:avLst/>
          </a:prstGeom>
          <a:noFill/>
          <a:ln/>
        </p:spPr>
        <p:txBody>
          <a:bodyPr wrap="square" rtlCol="0" anchor="ctr"/>
          <a:lstStyle/>
          <a:p>
            <a:pPr indent="0" marL="0">
              <a:buNone/>
            </a:pPr>
            <a:r>
              <a:rPr lang="en-US" sz="1350" dirty="0">
                <a:solidFill>
                  <a:srgbClr val="F7F8FA"/>
                </a:solidFill>
                <a:latin typeface="Calibri" pitchFamily="34" charset="0"/>
                <a:ea typeface="Calibri" pitchFamily="34" charset="-122"/>
                <a:cs typeface="Calibri" pitchFamily="34" charset="-120"/>
              </a:rPr>
              <a:t>Contact: [insert email]</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2026-07-15T15:13:20Z</dcterms:created>
  <dcterms:modified xsi:type="dcterms:W3CDTF">2026-07-15T15:13:20Z</dcterms:modified>
</cp:coreProperties>
</file>